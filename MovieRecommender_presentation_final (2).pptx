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8606496-3AEA-A86E-2EF8-56AD1755AB18}">
          <p14:sldIdLst>
            <p14:sldId id="256"/>
            <p14:sldId id="257"/>
            <p14:sldId id="258"/>
            <p14:sldId id="259"/>
            <p14:sldId id="260"/>
            <p14:sldId id="261"/>
            <p14:sldId id="262"/>
            <p14:sldId id="263"/>
            <p14:sldId id="264"/>
            <p14:sldId id="265"/>
            <p14:sldId id="266"/>
            <p14:sldId id="267"/>
            <p14:sldId id="268"/>
            <p14:sldId id="269"/>
            <p14:sldId id="271"/>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D8655E-0E4D-4E34-860A-1D9942B9892B}" v="34" dt="2026-10-12T17:56:02.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96"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oen Schoemaker" userId="48a9215ced585014" providerId="LiveId" clId="{E7F4B9A2-8F09-4012-B17B-6665BB754FC9}"/>
    <pc:docChg chg="undo custSel addSld modSld addSection delSection">
      <pc:chgData name="Jeroen Schoemaker" userId="48a9215ced585014" providerId="LiveId" clId="{E7F4B9A2-8F09-4012-B17B-6665BB754FC9}" dt="2026-10-12T17:56:29.170" v="825" actId="1076"/>
      <pc:docMkLst>
        <pc:docMk/>
      </pc:docMkLst>
      <pc:sldChg chg="addSp delSp modSp mod modTransition modAnim">
        <pc:chgData name="Jeroen Schoemaker" userId="48a9215ced585014" providerId="LiveId" clId="{E7F4B9A2-8F09-4012-B17B-6665BB754FC9}" dt="2026-10-12T14:55:04.856" v="622"/>
        <pc:sldMkLst>
          <pc:docMk/>
          <pc:sldMk cId="0" sldId="256"/>
        </pc:sldMkLst>
        <pc:spChg chg="del mod">
          <ac:chgData name="Jeroen Schoemaker" userId="48a9215ced585014" providerId="LiveId" clId="{E7F4B9A2-8F09-4012-B17B-6665BB754FC9}" dt="2026-10-12T13:44:39.052" v="2" actId="478"/>
          <ac:spMkLst>
            <pc:docMk/>
            <pc:sldMk cId="0" sldId="256"/>
            <ac:spMk id="2" creationId="{00000000-0000-0000-0000-000000000000}"/>
          </ac:spMkLst>
        </pc:spChg>
        <pc:spChg chg="mod">
          <ac:chgData name="Jeroen Schoemaker" userId="48a9215ced585014" providerId="LiveId" clId="{E7F4B9A2-8F09-4012-B17B-6665BB754FC9}" dt="2026-10-12T14:05:37.933" v="518" actId="20577"/>
          <ac:spMkLst>
            <pc:docMk/>
            <pc:sldMk cId="0" sldId="256"/>
            <ac:spMk id="5" creationId="{00000000-0000-0000-0000-000000000000}"/>
          </ac:spMkLst>
        </pc:spChg>
        <pc:picChg chg="add del mod">
          <ac:chgData name="Jeroen Schoemaker" userId="48a9215ced585014" providerId="LiveId" clId="{E7F4B9A2-8F09-4012-B17B-6665BB754FC9}" dt="2026-10-12T14:54:39.398" v="621"/>
          <ac:picMkLst>
            <pc:docMk/>
            <pc:sldMk cId="0" sldId="256"/>
            <ac:picMk id="11" creationId="{B410A8DB-B36B-3643-566D-6C117F90EA94}"/>
          </ac:picMkLst>
        </pc:picChg>
        <pc:picChg chg="add del mod ord">
          <ac:chgData name="Jeroen Schoemaker" userId="48a9215ced585014" providerId="LiveId" clId="{E7F4B9A2-8F09-4012-B17B-6665BB754FC9}" dt="2026-10-12T14:55:04.856" v="622"/>
          <ac:picMkLst>
            <pc:docMk/>
            <pc:sldMk cId="0" sldId="256"/>
            <ac:picMk id="14" creationId="{9E3FB6E2-1FCD-E499-AD75-24A73A311B1E}"/>
          </ac:picMkLst>
        </pc:picChg>
        <pc:picChg chg="add mod">
          <ac:chgData name="Jeroen Schoemaker" userId="48a9215ced585014" providerId="LiveId" clId="{E7F4B9A2-8F09-4012-B17B-6665BB754FC9}" dt="2026-10-12T14:55:04.856" v="622"/>
          <ac:picMkLst>
            <pc:docMk/>
            <pc:sldMk cId="0" sldId="256"/>
            <ac:picMk id="15" creationId="{68101970-495B-F7C9-610C-5A2132818609}"/>
          </ac:picMkLst>
        </pc:picChg>
      </pc:sldChg>
      <pc:sldChg chg="addSp modSp mod">
        <pc:chgData name="Jeroen Schoemaker" userId="48a9215ced585014" providerId="LiveId" clId="{E7F4B9A2-8F09-4012-B17B-6665BB754FC9}" dt="2026-10-12T14:56:51.386" v="623"/>
        <pc:sldMkLst>
          <pc:docMk/>
          <pc:sldMk cId="0" sldId="257"/>
        </pc:sldMkLst>
        <pc:spChg chg="mod">
          <ac:chgData name="Jeroen Schoemaker" userId="48a9215ced585014" providerId="LiveId" clId="{E7F4B9A2-8F09-4012-B17B-6665BB754FC9}" dt="2026-10-12T13:48:19.955" v="150" actId="20577"/>
          <ac:spMkLst>
            <pc:docMk/>
            <pc:sldMk cId="0" sldId="257"/>
            <ac:spMk id="11" creationId="{00000000-0000-0000-0000-000000000000}"/>
          </ac:spMkLst>
        </pc:spChg>
        <pc:spChg chg="mod">
          <ac:chgData name="Jeroen Schoemaker" userId="48a9215ced585014" providerId="LiveId" clId="{E7F4B9A2-8F09-4012-B17B-6665BB754FC9}" dt="2026-10-12T13:48:47.605" v="158" actId="12"/>
          <ac:spMkLst>
            <pc:docMk/>
            <pc:sldMk cId="0" sldId="257"/>
            <ac:spMk id="15" creationId="{00000000-0000-0000-0000-000000000000}"/>
          </ac:spMkLst>
        </pc:spChg>
        <pc:spChg chg="mod">
          <ac:chgData name="Jeroen Schoemaker" userId="48a9215ced585014" providerId="LiveId" clId="{E7F4B9A2-8F09-4012-B17B-6665BB754FC9}" dt="2026-10-12T13:49:07.827" v="187" actId="113"/>
          <ac:spMkLst>
            <pc:docMk/>
            <pc:sldMk cId="0" sldId="257"/>
            <ac:spMk id="19" creationId="{00000000-0000-0000-0000-000000000000}"/>
          </ac:spMkLst>
        </pc:spChg>
        <pc:picChg chg="add mod">
          <ac:chgData name="Jeroen Schoemaker" userId="48a9215ced585014" providerId="LiveId" clId="{E7F4B9A2-8F09-4012-B17B-6665BB754FC9}" dt="2026-10-12T14:56:51.386" v="623"/>
          <ac:picMkLst>
            <pc:docMk/>
            <pc:sldMk cId="0" sldId="257"/>
            <ac:picMk id="27" creationId="{ED9D6CB4-73B4-783C-704C-40FA1E59B64E}"/>
          </ac:picMkLst>
        </pc:picChg>
      </pc:sldChg>
      <pc:sldChg chg="addSp modSp mod">
        <pc:chgData name="Jeroen Schoemaker" userId="48a9215ced585014" providerId="LiveId" clId="{E7F4B9A2-8F09-4012-B17B-6665BB754FC9}" dt="2026-10-12T14:57:52.867" v="624"/>
        <pc:sldMkLst>
          <pc:docMk/>
          <pc:sldMk cId="0" sldId="258"/>
        </pc:sldMkLst>
        <pc:spChg chg="mod">
          <ac:chgData name="Jeroen Schoemaker" userId="48a9215ced585014" providerId="LiveId" clId="{E7F4B9A2-8F09-4012-B17B-6665BB754FC9}" dt="2026-10-12T13:44:55.375" v="5" actId="20577"/>
          <ac:spMkLst>
            <pc:docMk/>
            <pc:sldMk cId="0" sldId="258"/>
            <ac:spMk id="3" creationId="{00000000-0000-0000-0000-000000000000}"/>
          </ac:spMkLst>
        </pc:spChg>
        <pc:picChg chg="add mod">
          <ac:chgData name="Jeroen Schoemaker" userId="48a9215ced585014" providerId="LiveId" clId="{E7F4B9A2-8F09-4012-B17B-6665BB754FC9}" dt="2026-10-12T14:57:52.867" v="624"/>
          <ac:picMkLst>
            <pc:docMk/>
            <pc:sldMk cId="0" sldId="258"/>
            <ac:picMk id="8" creationId="{FD615F99-EB57-5023-34D7-FB65D0DE7E8C}"/>
          </ac:picMkLst>
        </pc:picChg>
      </pc:sldChg>
      <pc:sldChg chg="addSp delSp modSp mod modTransition modAnim">
        <pc:chgData name="Jeroen Schoemaker" userId="48a9215ced585014" providerId="LiveId" clId="{E7F4B9A2-8F09-4012-B17B-6665BB754FC9}" dt="2026-10-12T15:01:53.788" v="630"/>
        <pc:sldMkLst>
          <pc:docMk/>
          <pc:sldMk cId="0" sldId="259"/>
        </pc:sldMkLst>
        <pc:spChg chg="mod">
          <ac:chgData name="Jeroen Schoemaker" userId="48a9215ced585014" providerId="LiveId" clId="{E7F4B9A2-8F09-4012-B17B-6665BB754FC9}" dt="2026-10-12T13:45:40.199" v="6" actId="20577"/>
          <ac:spMkLst>
            <pc:docMk/>
            <pc:sldMk cId="0" sldId="259"/>
            <ac:spMk id="3" creationId="{00000000-0000-0000-0000-000000000000}"/>
          </ac:spMkLst>
        </pc:spChg>
        <pc:spChg chg="mod">
          <ac:chgData name="Jeroen Schoemaker" userId="48a9215ced585014" providerId="LiveId" clId="{E7F4B9A2-8F09-4012-B17B-6665BB754FC9}" dt="2026-10-12T13:47:18.053" v="83" actId="20577"/>
          <ac:spMkLst>
            <pc:docMk/>
            <pc:sldMk cId="0" sldId="259"/>
            <ac:spMk id="6" creationId="{00000000-0000-0000-0000-000000000000}"/>
          </ac:spMkLst>
        </pc:spChg>
        <pc:spChg chg="mod">
          <ac:chgData name="Jeroen Schoemaker" userId="48a9215ced585014" providerId="LiveId" clId="{E7F4B9A2-8F09-4012-B17B-6665BB754FC9}" dt="2026-10-12T13:47:50.469" v="141" actId="20577"/>
          <ac:spMkLst>
            <pc:docMk/>
            <pc:sldMk cId="0" sldId="259"/>
            <ac:spMk id="7" creationId="{00000000-0000-0000-0000-000000000000}"/>
          </ac:spMkLst>
        </pc:spChg>
        <pc:spChg chg="mod">
          <ac:chgData name="Jeroen Schoemaker" userId="48a9215ced585014" providerId="LiveId" clId="{E7F4B9A2-8F09-4012-B17B-6665BB754FC9}" dt="2026-10-12T13:46:59.731" v="68" actId="20577"/>
          <ac:spMkLst>
            <pc:docMk/>
            <pc:sldMk cId="0" sldId="259"/>
            <ac:spMk id="11" creationId="{00000000-0000-0000-0000-000000000000}"/>
          </ac:spMkLst>
        </pc:spChg>
        <pc:spChg chg="mod">
          <ac:chgData name="Jeroen Schoemaker" userId="48a9215ced585014" providerId="LiveId" clId="{E7F4B9A2-8F09-4012-B17B-6665BB754FC9}" dt="2026-10-12T13:46:30.907" v="49" actId="20577"/>
          <ac:spMkLst>
            <pc:docMk/>
            <pc:sldMk cId="0" sldId="259"/>
            <ac:spMk id="12" creationId="{00000000-0000-0000-0000-000000000000}"/>
          </ac:spMkLst>
        </pc:spChg>
        <pc:spChg chg="mod">
          <ac:chgData name="Jeroen Schoemaker" userId="48a9215ced585014" providerId="LiveId" clId="{E7F4B9A2-8F09-4012-B17B-6665BB754FC9}" dt="2026-10-12T14:06:46.160" v="554" actId="15"/>
          <ac:spMkLst>
            <pc:docMk/>
            <pc:sldMk cId="0" sldId="259"/>
            <ac:spMk id="17" creationId="{00000000-0000-0000-0000-000000000000}"/>
          </ac:spMkLst>
        </pc:spChg>
        <pc:spChg chg="mod">
          <ac:chgData name="Jeroen Schoemaker" userId="48a9215ced585014" providerId="LiveId" clId="{E7F4B9A2-8F09-4012-B17B-6665BB754FC9}" dt="2026-10-12T13:47:58.149" v="143" actId="20577"/>
          <ac:spMkLst>
            <pc:docMk/>
            <pc:sldMk cId="0" sldId="259"/>
            <ac:spMk id="22" creationId="{00000000-0000-0000-0000-000000000000}"/>
          </ac:spMkLst>
        </pc:spChg>
        <pc:picChg chg="add del mod">
          <ac:chgData name="Jeroen Schoemaker" userId="48a9215ced585014" providerId="LiveId" clId="{E7F4B9A2-8F09-4012-B17B-6665BB754FC9}" dt="2026-10-12T14:59:22.018" v="626"/>
          <ac:picMkLst>
            <pc:docMk/>
            <pc:sldMk cId="0" sldId="259"/>
            <ac:picMk id="24" creationId="{3CD1BE84-D8AB-34AB-7746-3EFE7806854A}"/>
          </ac:picMkLst>
        </pc:picChg>
        <pc:picChg chg="add del mod ord">
          <ac:chgData name="Jeroen Schoemaker" userId="48a9215ced585014" providerId="LiveId" clId="{E7F4B9A2-8F09-4012-B17B-6665BB754FC9}" dt="2026-10-12T15:00:09.279" v="627"/>
          <ac:picMkLst>
            <pc:docMk/>
            <pc:sldMk cId="0" sldId="259"/>
            <ac:picMk id="28" creationId="{890025EA-B508-A4E2-C73D-19F413116A64}"/>
          </ac:picMkLst>
        </pc:picChg>
        <pc:picChg chg="add del mod">
          <ac:chgData name="Jeroen Schoemaker" userId="48a9215ced585014" providerId="LiveId" clId="{E7F4B9A2-8F09-4012-B17B-6665BB754FC9}" dt="2026-10-12T15:01:09.084" v="629"/>
          <ac:picMkLst>
            <pc:docMk/>
            <pc:sldMk cId="0" sldId="259"/>
            <ac:picMk id="29" creationId="{48BD6501-84DA-68EB-27D5-AA3F7623038E}"/>
          </ac:picMkLst>
        </pc:picChg>
        <pc:picChg chg="add del mod ord">
          <ac:chgData name="Jeroen Schoemaker" userId="48a9215ced585014" providerId="LiveId" clId="{E7F4B9A2-8F09-4012-B17B-6665BB754FC9}" dt="2026-10-12T15:01:53.788" v="630"/>
          <ac:picMkLst>
            <pc:docMk/>
            <pc:sldMk cId="0" sldId="259"/>
            <ac:picMk id="32" creationId="{C81B1BB9-3F6C-C7A5-A862-3BC26FBFBF01}"/>
          </ac:picMkLst>
        </pc:picChg>
        <pc:picChg chg="add mod">
          <ac:chgData name="Jeroen Schoemaker" userId="48a9215ced585014" providerId="LiveId" clId="{E7F4B9A2-8F09-4012-B17B-6665BB754FC9}" dt="2026-10-12T15:01:53.788" v="630"/>
          <ac:picMkLst>
            <pc:docMk/>
            <pc:sldMk cId="0" sldId="259"/>
            <ac:picMk id="33" creationId="{CF06FF44-C67C-E886-744F-200938927BE5}"/>
          </ac:picMkLst>
        </pc:picChg>
      </pc:sldChg>
      <pc:sldChg chg="addSp delSp modSp mod modTransition modAnim">
        <pc:chgData name="Jeroen Schoemaker" userId="48a9215ced585014" providerId="LiveId" clId="{E7F4B9A2-8F09-4012-B17B-6665BB754FC9}" dt="2026-10-12T15:07:02.617" v="634"/>
        <pc:sldMkLst>
          <pc:docMk/>
          <pc:sldMk cId="0" sldId="260"/>
        </pc:sldMkLst>
        <pc:spChg chg="mod">
          <ac:chgData name="Jeroen Schoemaker" userId="48a9215ced585014" providerId="LiveId" clId="{E7F4B9A2-8F09-4012-B17B-6665BB754FC9}" dt="2026-10-12T13:49:34.076" v="222" actId="20577"/>
          <ac:spMkLst>
            <pc:docMk/>
            <pc:sldMk cId="0" sldId="260"/>
            <ac:spMk id="5" creationId="{00000000-0000-0000-0000-000000000000}"/>
          </ac:spMkLst>
        </pc:spChg>
        <pc:graphicFrameChg chg="modGraphic">
          <ac:chgData name="Jeroen Schoemaker" userId="48a9215ced585014" providerId="LiveId" clId="{E7F4B9A2-8F09-4012-B17B-6665BB754FC9}" dt="2026-10-12T13:52:11.407" v="263" actId="20577"/>
          <ac:graphicFrameMkLst>
            <pc:docMk/>
            <pc:sldMk cId="0" sldId="260"/>
            <ac:graphicFrameMk id="6" creationId="{00000000-0000-0000-0000-000000000000}"/>
          </ac:graphicFrameMkLst>
        </pc:graphicFrameChg>
        <pc:picChg chg="add del mod">
          <ac:chgData name="Jeroen Schoemaker" userId="48a9215ced585014" providerId="LiveId" clId="{E7F4B9A2-8F09-4012-B17B-6665BB754FC9}" dt="2026-10-12T15:05:13.873" v="633"/>
          <ac:picMkLst>
            <pc:docMk/>
            <pc:sldMk cId="0" sldId="260"/>
            <ac:picMk id="10" creationId="{383CBEAE-00BC-A022-A327-9D055983060F}"/>
          </ac:picMkLst>
        </pc:picChg>
        <pc:picChg chg="add del mod ord">
          <ac:chgData name="Jeroen Schoemaker" userId="48a9215ced585014" providerId="LiveId" clId="{E7F4B9A2-8F09-4012-B17B-6665BB754FC9}" dt="2026-10-12T15:07:02.617" v="634"/>
          <ac:picMkLst>
            <pc:docMk/>
            <pc:sldMk cId="0" sldId="260"/>
            <ac:picMk id="14" creationId="{D58C9A02-E642-A134-C35A-DCA64786D77B}"/>
          </ac:picMkLst>
        </pc:picChg>
        <pc:picChg chg="add mod">
          <ac:chgData name="Jeroen Schoemaker" userId="48a9215ced585014" providerId="LiveId" clId="{E7F4B9A2-8F09-4012-B17B-6665BB754FC9}" dt="2026-10-12T15:07:02.617" v="634"/>
          <ac:picMkLst>
            <pc:docMk/>
            <pc:sldMk cId="0" sldId="260"/>
            <ac:picMk id="15" creationId="{841BA9A5-7543-2ECE-CEF2-8F0F26D77EDC}"/>
          </ac:picMkLst>
        </pc:picChg>
      </pc:sldChg>
      <pc:sldChg chg="addSp modSp mod">
        <pc:chgData name="Jeroen Schoemaker" userId="48a9215ced585014" providerId="LiveId" clId="{E7F4B9A2-8F09-4012-B17B-6665BB754FC9}" dt="2026-10-12T15:08:32.089" v="635"/>
        <pc:sldMkLst>
          <pc:docMk/>
          <pc:sldMk cId="0" sldId="261"/>
        </pc:sldMkLst>
        <pc:spChg chg="mod">
          <ac:chgData name="Jeroen Schoemaker" userId="48a9215ced585014" providerId="LiveId" clId="{E7F4B9A2-8F09-4012-B17B-6665BB754FC9}" dt="2026-10-12T13:52:34.110" v="275" actId="20577"/>
          <ac:spMkLst>
            <pc:docMk/>
            <pc:sldMk cId="0" sldId="261"/>
            <ac:spMk id="7" creationId="{00000000-0000-0000-0000-000000000000}"/>
          </ac:spMkLst>
        </pc:spChg>
        <pc:spChg chg="mod">
          <ac:chgData name="Jeroen Schoemaker" userId="48a9215ced585014" providerId="LiveId" clId="{E7F4B9A2-8F09-4012-B17B-6665BB754FC9}" dt="2026-10-12T13:53:08.491" v="298" actId="6549"/>
          <ac:spMkLst>
            <pc:docMk/>
            <pc:sldMk cId="0" sldId="261"/>
            <ac:spMk id="11" creationId="{00000000-0000-0000-0000-000000000000}"/>
          </ac:spMkLst>
        </pc:spChg>
        <pc:picChg chg="add mod">
          <ac:chgData name="Jeroen Schoemaker" userId="48a9215ced585014" providerId="LiveId" clId="{E7F4B9A2-8F09-4012-B17B-6665BB754FC9}" dt="2026-10-12T15:08:32.089" v="635"/>
          <ac:picMkLst>
            <pc:docMk/>
            <pc:sldMk cId="0" sldId="261"/>
            <ac:picMk id="19" creationId="{EFE0D7D5-D1F5-7CA0-C75C-40ED47198301}"/>
          </ac:picMkLst>
        </pc:picChg>
      </pc:sldChg>
      <pc:sldChg chg="addSp modSp">
        <pc:chgData name="Jeroen Schoemaker" userId="48a9215ced585014" providerId="LiveId" clId="{E7F4B9A2-8F09-4012-B17B-6665BB754FC9}" dt="2026-10-12T15:10:37.999" v="636"/>
        <pc:sldMkLst>
          <pc:docMk/>
          <pc:sldMk cId="0" sldId="262"/>
        </pc:sldMkLst>
        <pc:picChg chg="add mod">
          <ac:chgData name="Jeroen Schoemaker" userId="48a9215ced585014" providerId="LiveId" clId="{E7F4B9A2-8F09-4012-B17B-6665BB754FC9}" dt="2026-10-12T15:10:37.999" v="636"/>
          <ac:picMkLst>
            <pc:docMk/>
            <pc:sldMk cId="0" sldId="262"/>
            <ac:picMk id="8" creationId="{8BE49179-24CF-B645-CDFC-DFF276ECE514}"/>
          </ac:picMkLst>
        </pc:picChg>
      </pc:sldChg>
      <pc:sldChg chg="addSp modSp mod">
        <pc:chgData name="Jeroen Schoemaker" userId="48a9215ced585014" providerId="LiveId" clId="{E7F4B9A2-8F09-4012-B17B-6665BB754FC9}" dt="2026-10-12T15:18:15.198" v="637"/>
        <pc:sldMkLst>
          <pc:docMk/>
          <pc:sldMk cId="0" sldId="263"/>
        </pc:sldMkLst>
        <pc:spChg chg="mod">
          <ac:chgData name="Jeroen Schoemaker" userId="48a9215ced585014" providerId="LiveId" clId="{E7F4B9A2-8F09-4012-B17B-6665BB754FC9}" dt="2026-10-12T13:58:01.372" v="314" actId="113"/>
          <ac:spMkLst>
            <pc:docMk/>
            <pc:sldMk cId="0" sldId="263"/>
            <ac:spMk id="5" creationId="{00000000-0000-0000-0000-000000000000}"/>
          </ac:spMkLst>
        </pc:spChg>
        <pc:picChg chg="add mod">
          <ac:chgData name="Jeroen Schoemaker" userId="48a9215ced585014" providerId="LiveId" clId="{E7F4B9A2-8F09-4012-B17B-6665BB754FC9}" dt="2026-10-12T15:18:15.198" v="637"/>
          <ac:picMkLst>
            <pc:docMk/>
            <pc:sldMk cId="0" sldId="263"/>
            <ac:picMk id="8" creationId="{160B2C07-026F-9D60-C8CF-91D37598E434}"/>
          </ac:picMkLst>
        </pc:picChg>
      </pc:sldChg>
      <pc:sldChg chg="addSp modSp mod">
        <pc:chgData name="Jeroen Schoemaker" userId="48a9215ced585014" providerId="LiveId" clId="{E7F4B9A2-8F09-4012-B17B-6665BB754FC9}" dt="2026-10-12T15:20:39.607" v="638"/>
        <pc:sldMkLst>
          <pc:docMk/>
          <pc:sldMk cId="0" sldId="264"/>
        </pc:sldMkLst>
        <pc:spChg chg="mod">
          <ac:chgData name="Jeroen Schoemaker" userId="48a9215ced585014" providerId="LiveId" clId="{E7F4B9A2-8F09-4012-B17B-6665BB754FC9}" dt="2026-10-12T13:57:17.697" v="304" actId="14100"/>
          <ac:spMkLst>
            <pc:docMk/>
            <pc:sldMk cId="0" sldId="264"/>
            <ac:spMk id="5" creationId="{00000000-0000-0000-0000-000000000000}"/>
          </ac:spMkLst>
        </pc:spChg>
        <pc:picChg chg="add mod">
          <ac:chgData name="Jeroen Schoemaker" userId="48a9215ced585014" providerId="LiveId" clId="{E7F4B9A2-8F09-4012-B17B-6665BB754FC9}" dt="2026-10-12T15:20:39.607" v="638"/>
          <ac:picMkLst>
            <pc:docMk/>
            <pc:sldMk cId="0" sldId="264"/>
            <ac:picMk id="8" creationId="{6CCF34CE-4BD1-4276-8085-B0F2006B3C66}"/>
          </ac:picMkLst>
        </pc:picChg>
      </pc:sldChg>
      <pc:sldChg chg="addSp delSp modSp mod modTransition modAnim">
        <pc:chgData name="Jeroen Schoemaker" userId="48a9215ced585014" providerId="LiveId" clId="{E7F4B9A2-8F09-4012-B17B-6665BB754FC9}" dt="2026-10-12T15:29:17.941" v="642"/>
        <pc:sldMkLst>
          <pc:docMk/>
          <pc:sldMk cId="0" sldId="265"/>
        </pc:sldMkLst>
        <pc:spChg chg="mod">
          <ac:chgData name="Jeroen Schoemaker" userId="48a9215ced585014" providerId="LiveId" clId="{E7F4B9A2-8F09-4012-B17B-6665BB754FC9}" dt="2026-10-12T14:00:39.649" v="336" actId="20577"/>
          <ac:spMkLst>
            <pc:docMk/>
            <pc:sldMk cId="0" sldId="265"/>
            <ac:spMk id="5" creationId="{00000000-0000-0000-0000-000000000000}"/>
          </ac:spMkLst>
        </pc:spChg>
        <pc:graphicFrameChg chg="modGraphic">
          <ac:chgData name="Jeroen Schoemaker" userId="48a9215ced585014" providerId="LiveId" clId="{E7F4B9A2-8F09-4012-B17B-6665BB754FC9}" dt="2026-10-12T14:02:55.807" v="517" actId="20577"/>
          <ac:graphicFrameMkLst>
            <pc:docMk/>
            <pc:sldMk cId="0" sldId="265"/>
            <ac:graphicFrameMk id="11" creationId="{00000000-0000-0000-0000-000000000000}"/>
          </ac:graphicFrameMkLst>
        </pc:graphicFrameChg>
        <pc:picChg chg="add del mod">
          <ac:chgData name="Jeroen Schoemaker" userId="48a9215ced585014" providerId="LiveId" clId="{E7F4B9A2-8F09-4012-B17B-6665BB754FC9}" dt="2026-10-12T15:27:04.006" v="641"/>
          <ac:picMkLst>
            <pc:docMk/>
            <pc:sldMk cId="0" sldId="265"/>
            <ac:picMk id="7" creationId="{F42C5511-0D87-035C-4E11-22BCB4B4006D}"/>
          </ac:picMkLst>
        </pc:picChg>
        <pc:picChg chg="add del mod ord">
          <ac:chgData name="Jeroen Schoemaker" userId="48a9215ced585014" providerId="LiveId" clId="{E7F4B9A2-8F09-4012-B17B-6665BB754FC9}" dt="2026-10-12T15:29:17.941" v="642"/>
          <ac:picMkLst>
            <pc:docMk/>
            <pc:sldMk cId="0" sldId="265"/>
            <ac:picMk id="10" creationId="{EF21EAF0-9064-2721-534E-8663E47821DB}"/>
          </ac:picMkLst>
        </pc:picChg>
        <pc:picChg chg="add mod">
          <ac:chgData name="Jeroen Schoemaker" userId="48a9215ced585014" providerId="LiveId" clId="{E7F4B9A2-8F09-4012-B17B-6665BB754FC9}" dt="2026-10-12T15:29:17.941" v="642"/>
          <ac:picMkLst>
            <pc:docMk/>
            <pc:sldMk cId="0" sldId="265"/>
            <ac:picMk id="12" creationId="{7C53F11C-8091-81A9-4978-9DD72442DB84}"/>
          </ac:picMkLst>
        </pc:picChg>
      </pc:sldChg>
      <pc:sldChg chg="addSp delSp modSp mod modTransition modAnim">
        <pc:chgData name="Jeroen Schoemaker" userId="48a9215ced585014" providerId="LiveId" clId="{E7F4B9A2-8F09-4012-B17B-6665BB754FC9}" dt="2026-10-12T15:40:23.001" v="646"/>
        <pc:sldMkLst>
          <pc:docMk/>
          <pc:sldMk cId="0" sldId="266"/>
        </pc:sldMkLst>
        <pc:picChg chg="del">
          <ac:chgData name="Jeroen Schoemaker" userId="48a9215ced585014" providerId="LiveId" clId="{E7F4B9A2-8F09-4012-B17B-6665BB754FC9}" dt="2026-10-12T14:08:49.109" v="555" actId="478"/>
          <ac:picMkLst>
            <pc:docMk/>
            <pc:sldMk cId="0" sldId="266"/>
            <ac:picMk id="4" creationId="{00000000-0000-0000-0000-000000000000}"/>
          </ac:picMkLst>
        </pc:picChg>
        <pc:picChg chg="add mod">
          <ac:chgData name="Jeroen Schoemaker" userId="48a9215ced585014" providerId="LiveId" clId="{E7F4B9A2-8F09-4012-B17B-6665BB754FC9}" dt="2026-10-12T14:08:57.125" v="559" actId="1076"/>
          <ac:picMkLst>
            <pc:docMk/>
            <pc:sldMk cId="0" sldId="266"/>
            <ac:picMk id="7" creationId="{CA6BD675-2197-6A51-F53E-307EAE28EC88}"/>
          </ac:picMkLst>
        </pc:picChg>
        <pc:picChg chg="add del mod">
          <ac:chgData name="Jeroen Schoemaker" userId="48a9215ced585014" providerId="LiveId" clId="{E7F4B9A2-8F09-4012-B17B-6665BB754FC9}" dt="2026-10-12T15:38:23.878" v="645"/>
          <ac:picMkLst>
            <pc:docMk/>
            <pc:sldMk cId="0" sldId="266"/>
            <ac:picMk id="11" creationId="{C95AFFAA-66EC-BC9D-81AC-BC8D9260690C}"/>
          </ac:picMkLst>
        </pc:picChg>
        <pc:picChg chg="add del mod ord">
          <ac:chgData name="Jeroen Schoemaker" userId="48a9215ced585014" providerId="LiveId" clId="{E7F4B9A2-8F09-4012-B17B-6665BB754FC9}" dt="2026-10-12T15:40:23.001" v="646"/>
          <ac:picMkLst>
            <pc:docMk/>
            <pc:sldMk cId="0" sldId="266"/>
            <ac:picMk id="15" creationId="{7E58CAB5-6103-AA21-462D-C141FA4FAF1E}"/>
          </ac:picMkLst>
        </pc:picChg>
        <pc:picChg chg="add mod">
          <ac:chgData name="Jeroen Schoemaker" userId="48a9215ced585014" providerId="LiveId" clId="{E7F4B9A2-8F09-4012-B17B-6665BB754FC9}" dt="2026-10-12T15:40:23.001" v="646"/>
          <ac:picMkLst>
            <pc:docMk/>
            <pc:sldMk cId="0" sldId="266"/>
            <ac:picMk id="16" creationId="{560A1C4F-27BB-AB68-11E1-74E2394CAFCD}"/>
          </ac:picMkLst>
        </pc:picChg>
      </pc:sldChg>
      <pc:sldChg chg="addSp modSp">
        <pc:chgData name="Jeroen Schoemaker" userId="48a9215ced585014" providerId="LiveId" clId="{E7F4B9A2-8F09-4012-B17B-6665BB754FC9}" dt="2026-10-12T16:10:14.461" v="647"/>
        <pc:sldMkLst>
          <pc:docMk/>
          <pc:sldMk cId="0" sldId="267"/>
        </pc:sldMkLst>
        <pc:picChg chg="add mod">
          <ac:chgData name="Jeroen Schoemaker" userId="48a9215ced585014" providerId="LiveId" clId="{E7F4B9A2-8F09-4012-B17B-6665BB754FC9}" dt="2026-10-12T16:10:14.461" v="647"/>
          <ac:picMkLst>
            <pc:docMk/>
            <pc:sldMk cId="0" sldId="267"/>
            <ac:picMk id="12" creationId="{24B067B2-E83C-46CD-0698-983DD93A1869}"/>
          </ac:picMkLst>
        </pc:picChg>
      </pc:sldChg>
      <pc:sldChg chg="addSp modSp mod">
        <pc:chgData name="Jeroen Schoemaker" userId="48a9215ced585014" providerId="LiveId" clId="{E7F4B9A2-8F09-4012-B17B-6665BB754FC9}" dt="2026-10-12T16:12:07.137" v="648"/>
        <pc:sldMkLst>
          <pc:docMk/>
          <pc:sldMk cId="0" sldId="268"/>
        </pc:sldMkLst>
        <pc:spChg chg="mod">
          <ac:chgData name="Jeroen Schoemaker" userId="48a9215ced585014" providerId="LiveId" clId="{E7F4B9A2-8F09-4012-B17B-6665BB754FC9}" dt="2026-10-12T14:11:12.397" v="596" actId="20577"/>
          <ac:spMkLst>
            <pc:docMk/>
            <pc:sldMk cId="0" sldId="268"/>
            <ac:spMk id="2" creationId="{00000000-0000-0000-0000-000000000000}"/>
          </ac:spMkLst>
        </pc:spChg>
        <pc:picChg chg="add mod">
          <ac:chgData name="Jeroen Schoemaker" userId="48a9215ced585014" providerId="LiveId" clId="{E7F4B9A2-8F09-4012-B17B-6665BB754FC9}" dt="2026-10-12T16:12:07.137" v="648"/>
          <ac:picMkLst>
            <pc:docMk/>
            <pc:sldMk cId="0" sldId="268"/>
            <ac:picMk id="29" creationId="{68379DA4-CDD2-A284-773E-C888F0FCFC80}"/>
          </ac:picMkLst>
        </pc:picChg>
      </pc:sldChg>
      <pc:sldChg chg="addSp modSp mod">
        <pc:chgData name="Jeroen Schoemaker" userId="48a9215ced585014" providerId="LiveId" clId="{E7F4B9A2-8F09-4012-B17B-6665BB754FC9}" dt="2026-10-12T16:19:23.963" v="785"/>
        <pc:sldMkLst>
          <pc:docMk/>
          <pc:sldMk cId="0" sldId="269"/>
        </pc:sldMkLst>
        <pc:spChg chg="mod">
          <ac:chgData name="Jeroen Schoemaker" userId="48a9215ced585014" providerId="LiveId" clId="{E7F4B9A2-8F09-4012-B17B-6665BB754FC9}" dt="2026-10-12T14:11:20.727" v="605" actId="20577"/>
          <ac:spMkLst>
            <pc:docMk/>
            <pc:sldMk cId="0" sldId="269"/>
            <ac:spMk id="2" creationId="{00000000-0000-0000-0000-000000000000}"/>
          </ac:spMkLst>
        </pc:spChg>
        <pc:spChg chg="mod">
          <ac:chgData name="Jeroen Schoemaker" userId="48a9215ced585014" providerId="LiveId" clId="{E7F4B9A2-8F09-4012-B17B-6665BB754FC9}" dt="2026-10-12T16:13:36.793" v="784" actId="20577"/>
          <ac:spMkLst>
            <pc:docMk/>
            <pc:sldMk cId="0" sldId="269"/>
            <ac:spMk id="4" creationId="{00000000-0000-0000-0000-000000000000}"/>
          </ac:spMkLst>
        </pc:spChg>
        <pc:picChg chg="add mod">
          <ac:chgData name="Jeroen Schoemaker" userId="48a9215ced585014" providerId="LiveId" clId="{E7F4B9A2-8F09-4012-B17B-6665BB754FC9}" dt="2026-10-12T16:19:23.963" v="785"/>
          <ac:picMkLst>
            <pc:docMk/>
            <pc:sldMk cId="0" sldId="269"/>
            <ac:picMk id="9" creationId="{F63A2DC1-B0E4-04D4-3285-5627A7032EFE}"/>
          </ac:picMkLst>
        </pc:picChg>
      </pc:sldChg>
      <pc:sldChg chg="modSp mod">
        <pc:chgData name="Jeroen Schoemaker" userId="48a9215ced585014" providerId="LiveId" clId="{E7F4B9A2-8F09-4012-B17B-6665BB754FC9}" dt="2026-10-12T17:55:32.049" v="802" actId="20577"/>
        <pc:sldMkLst>
          <pc:docMk/>
          <pc:sldMk cId="0" sldId="270"/>
        </pc:sldMkLst>
        <pc:spChg chg="mod">
          <ac:chgData name="Jeroen Schoemaker" userId="48a9215ced585014" providerId="LiveId" clId="{E7F4B9A2-8F09-4012-B17B-6665BB754FC9}" dt="2026-10-12T17:55:32.049" v="802" actId="20577"/>
          <ac:spMkLst>
            <pc:docMk/>
            <pc:sldMk cId="0" sldId="270"/>
            <ac:spMk id="2" creationId="{00000000-0000-0000-0000-000000000000}"/>
          </ac:spMkLst>
        </pc:spChg>
        <pc:spChg chg="mod">
          <ac:chgData name="Jeroen Schoemaker" userId="48a9215ced585014" providerId="LiveId" clId="{E7F4B9A2-8F09-4012-B17B-6665BB754FC9}" dt="2026-10-12T14:10:45.841" v="579" actId="1076"/>
          <ac:spMkLst>
            <pc:docMk/>
            <pc:sldMk cId="0" sldId="270"/>
            <ac:spMk id="4" creationId="{00000000-0000-0000-0000-000000000000}"/>
          </ac:spMkLst>
        </pc:spChg>
      </pc:sldChg>
      <pc:sldChg chg="addSp delSp modSp add mod delAnim modAnim">
        <pc:chgData name="Jeroen Schoemaker" userId="48a9215ced585014" providerId="LiveId" clId="{E7F4B9A2-8F09-4012-B17B-6665BB754FC9}" dt="2026-10-12T17:56:29.170" v="825" actId="1076"/>
        <pc:sldMkLst>
          <pc:docMk/>
          <pc:sldMk cId="509637968" sldId="271"/>
        </pc:sldMkLst>
        <pc:spChg chg="mod">
          <ac:chgData name="Jeroen Schoemaker" userId="48a9215ced585014" providerId="LiveId" clId="{E7F4B9A2-8F09-4012-B17B-6665BB754FC9}" dt="2026-10-12T17:55:40.488" v="817" actId="20577"/>
          <ac:spMkLst>
            <pc:docMk/>
            <pc:sldMk cId="509637968" sldId="271"/>
            <ac:spMk id="2" creationId="{00000000-0000-0000-0000-000000000000}"/>
          </ac:spMkLst>
        </pc:spChg>
        <pc:spChg chg="mod">
          <ac:chgData name="Jeroen Schoemaker" userId="48a9215ced585014" providerId="LiveId" clId="{E7F4B9A2-8F09-4012-B17B-6665BB754FC9}" dt="2026-10-12T17:55:26.322" v="800" actId="20577"/>
          <ac:spMkLst>
            <pc:docMk/>
            <pc:sldMk cId="509637968" sldId="271"/>
            <ac:spMk id="3" creationId="{00000000-0000-0000-0000-000000000000}"/>
          </ac:spMkLst>
        </pc:spChg>
        <pc:spChg chg="del mod">
          <ac:chgData name="Jeroen Schoemaker" userId="48a9215ced585014" providerId="LiveId" clId="{E7F4B9A2-8F09-4012-B17B-6665BB754FC9}" dt="2026-10-12T17:56:12.936" v="823" actId="478"/>
          <ac:spMkLst>
            <pc:docMk/>
            <pc:sldMk cId="509637968" sldId="271"/>
            <ac:spMk id="4" creationId="{00000000-0000-0000-0000-000000000000}"/>
          </ac:spMkLst>
        </pc:spChg>
        <pc:picChg chg="add mod">
          <ac:chgData name="Jeroen Schoemaker" userId="48a9215ced585014" providerId="LiveId" clId="{E7F4B9A2-8F09-4012-B17B-6665BB754FC9}" dt="2026-10-12T17:56:29.170" v="825" actId="1076"/>
          <ac:picMkLst>
            <pc:docMk/>
            <pc:sldMk cId="509637968" sldId="271"/>
            <ac:picMk id="5" creationId="{5B99C562-E156-A3B2-A639-32FCD3E44932}"/>
          </ac:picMkLst>
        </pc:picChg>
        <pc:picChg chg="del">
          <ac:chgData name="Jeroen Schoemaker" userId="48a9215ced585014" providerId="LiveId" clId="{E7F4B9A2-8F09-4012-B17B-6665BB754FC9}" dt="2026-10-12T17:55:46.111" v="818" actId="478"/>
          <ac:picMkLst>
            <pc:docMk/>
            <pc:sldMk cId="509637968" sldId="271"/>
            <ac:picMk id="9" creationId="{F63A2DC1-B0E4-04D4-3285-5627A7032EFE}"/>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RMSE (lower is better)</c:v>
                </c:pt>
              </c:strCache>
            </c:strRef>
          </c:tx>
          <c:spPr>
            <a:solidFill>
              <a:srgbClr val="1F4E79"/>
            </a:solidFill>
            <a:effectLst/>
          </c:spPr>
          <c:invertIfNegative val="0"/>
          <c:dLbls>
            <c:numFmt formatCode="0.000" sourceLinked="0"/>
            <c:spPr>
              <a:noFill/>
              <a:ln>
                <a:noFill/>
              </a:ln>
              <a:effectLst/>
            </c:spPr>
            <c:txPr>
              <a:bodyPr/>
              <a:lstStyle/>
              <a:p>
                <a:pPr>
                  <a:defRPr sz="900" b="0" i="0" u="none" strike="noStrike">
                    <a:solidFill>
                      <a:srgbClr val="33404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Biased MF</c:v>
                </c:pt>
                <c:pt idx="1">
                  <c:v>NeuMF</c:v>
                </c:pt>
              </c:strCache>
            </c:strRef>
          </c:cat>
          <c:val>
            <c:numRef>
              <c:f>Sheet1!$B$2:$B$3</c:f>
              <c:numCache>
                <c:formatCode>General</c:formatCode>
                <c:ptCount val="2"/>
                <c:pt idx="0">
                  <c:v>0.91200000000000003</c:v>
                </c:pt>
                <c:pt idx="1">
                  <c:v>0.91400000000000003</c:v>
                </c:pt>
              </c:numCache>
            </c:numRef>
          </c:val>
          <c:extLst>
            <c:ext xmlns:c16="http://schemas.microsoft.com/office/drawing/2014/chart" uri="{C3380CC4-5D6E-409C-BE32-E72D297353CC}">
              <c16:uniqueId val="{00000000-7FCA-4443-BE51-5CCBC4CD89C0}"/>
            </c:ext>
          </c:extLst>
        </c:ser>
        <c:ser>
          <c:idx val="1"/>
          <c:order val="1"/>
          <c:tx>
            <c:strRef>
              <c:f>Sheet1!$C$1</c:f>
              <c:strCache>
                <c:ptCount val="1"/>
                <c:pt idx="0">
                  <c:v>NDCG@10 (higher is better)</c:v>
                </c:pt>
              </c:strCache>
            </c:strRef>
          </c:tx>
          <c:spPr>
            <a:solidFill>
              <a:srgbClr val="8FB3D6"/>
            </a:solidFill>
            <a:effectLst/>
          </c:spPr>
          <c:invertIfNegative val="0"/>
          <c:dLbls>
            <c:numFmt formatCode="0.000" sourceLinked="0"/>
            <c:spPr>
              <a:noFill/>
              <a:ln>
                <a:noFill/>
              </a:ln>
              <a:effectLst/>
            </c:spPr>
            <c:txPr>
              <a:bodyPr/>
              <a:lstStyle/>
              <a:p>
                <a:pPr>
                  <a:defRPr sz="900" b="0" i="0" u="none" strike="noStrike">
                    <a:solidFill>
                      <a:srgbClr val="33404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Biased MF</c:v>
                </c:pt>
                <c:pt idx="1">
                  <c:v>NeuMF</c:v>
                </c:pt>
              </c:strCache>
            </c:strRef>
          </c:cat>
          <c:val>
            <c:numRef>
              <c:f>Sheet1!$C$2:$C$3</c:f>
              <c:numCache>
                <c:formatCode>General</c:formatCode>
                <c:ptCount val="2"/>
                <c:pt idx="0">
                  <c:v>0.91300000000000003</c:v>
                </c:pt>
                <c:pt idx="1">
                  <c:v>0.91100000000000003</c:v>
                </c:pt>
              </c:numCache>
            </c:numRef>
          </c:val>
          <c:extLst>
            <c:ext xmlns:c16="http://schemas.microsoft.com/office/drawing/2014/chart" uri="{C3380CC4-5D6E-409C-BE32-E72D297353CC}">
              <c16:uniqueId val="{00000001-7FCA-4443-BE51-5CCBC4CD89C0}"/>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C6672"/>
                </a:solidFill>
                <a:latin typeface="+mn-lt"/>
              </a:defRPr>
            </a:pPr>
            <a:endParaRPr lang="en-US"/>
          </a:p>
        </c:txPr>
        <c:crossAx val="2094734552"/>
        <c:crosses val="autoZero"/>
        <c:auto val="1"/>
        <c:lblAlgn val="ctr"/>
        <c:lblOffset val="100"/>
        <c:noMultiLvlLbl val="1"/>
      </c:catAx>
      <c:valAx>
        <c:axId val="2094734552"/>
        <c:scaling>
          <c:orientation val="minMax"/>
          <c:max val="0.95"/>
          <c:min val="0.85"/>
        </c:scaling>
        <c:delete val="0"/>
        <c:axPos val="l"/>
        <c:majorGridlines>
          <c:spPr>
            <a:ln w="6350" cap="flat">
              <a:solidFill>
                <a:srgbClr val="E4E7EC"/>
              </a:solidFill>
              <a:prstDash val="solid"/>
              <a:round/>
            </a:ln>
          </c:spPr>
        </c:majorGridlines>
        <c:title>
          <c:tx>
            <c:rich>
              <a:bodyPr/>
              <a:lstStyle/>
              <a:p>
                <a:pPr>
                  <a:defRPr sz="900" b="0" i="0" u="none" strike="noStrike">
                    <a:solidFill>
                      <a:srgbClr val="5C6672"/>
                    </a:solidFill>
                    <a:latin typeface="+mn-lt"/>
                  </a:defRPr>
                </a:pPr>
                <a:r>
                  <a:rPr lang="en-US" sz="900" b="0" i="0" u="none" strike="noStrike">
                    <a:solidFill>
                      <a:srgbClr val="5C6672"/>
                    </a:solidFill>
                    <a:latin typeface="+mn-lt"/>
                  </a:rPr>
                  <a:t>average over the five test parts</a:t>
                </a:r>
              </a:p>
            </c:rich>
          </c:tx>
          <c:overlay val="0"/>
        </c:title>
        <c:numFmt formatCode="0.000" sourceLinked="0"/>
        <c:majorTickMark val="out"/>
        <c:minorTickMark val="none"/>
        <c:tickLblPos val="nextTo"/>
        <c:spPr>
          <a:ln w="12700" cap="flat">
            <a:noFill/>
            <a:prstDash val="solid"/>
            <a:round/>
          </a:ln>
        </c:spPr>
        <c:txPr>
          <a:bodyPr/>
          <a:lstStyle/>
          <a:p>
            <a:pPr>
              <a:defRPr sz="900" b="0" i="0" u="none" strike="noStrike">
                <a:solidFill>
                  <a:srgbClr val="5C667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672"/>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219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welcome to my presentation about a movie recommendation system. A movie recommender system generally assesses the features of the viewers, the films and the interaction between viewers and the films. The primary goal is to suggest movies to the viewers that could be a good fit (Jayalakshmi et al., 2022).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presentation, I have used the MovieLens 100K. It contains 100,000 ratings and scarce information about 943 users and 1,682 films collected between 1997 and 1998.
We know gender, age and occupation of the viewers and there are 19 movie genres (one is unknown). Important to know is that only 6.3% of the table is filled. So, 93.7% of the movies do not have a rating from the average user. Every movie has at least one rating and every user has rated at least twenty films. There is sparsity in the dataset.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that the data overall is skewed and not evenly distributed. The majority of the ratings are concentrated in a few categories (and the same is more or less true across users and films) and the majority of ratings are given by men (around 74%). We will take this into account when we study bias.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done minimal preprocessing. I have dropped the unknown genre, and I have kept the remaining 18. Age has seven buckets and I have kept the 21 occupations.
The dataset is splitted into five folds. The standard is 80% for training and 20% for testing.  We will discuss this in more detail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talked about how the primary goal is to help users find relevant content (movies in this case). There are several filtering strategies used by traditional machine learning recommendation systems (Jayalakshmi et al., 2022). The three primary strategies are:
Collaborative filtering assumes that viewers who rated the same movies similarly share interests (Zhang et al., 2020). The strategy suffers from
Cold start problem: there is no information for a new viewer or movie;
Computing requirements grow with viewers times movies.
Content-based filtering uses the content, for instance the genre, rather than the behaviour of the viewers.
The drawback here is that the viewer cannot discover new areas outside her profile (Idrissi and Zellou, 2020).
Hybrids strategies combine them. We will discuss them later in deployment.
The content features are scarce, and based on statistical tests none have a significant effect, so I opted for collaborative filtering (Jayalakshmi et al., 2022). The cold start is not relevant here; I will discuss solutions to it later.  What is more important is the sparsity in the data which affects all methods in terms of accuracy, coverage, scalability and transparency (Idrissi and Zellou, 2020; Gunathilaka et al., 2025). The literature discusses matrix factorization to estimate ratings from sparse data, so a way to mitigate sparsity (Gunathilaka et al., 2025). I use the biased version (Koren et al., 2009) the Netflix prize winners. The library calls it SVD in notebook.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Biased MF's prediction is a dot product, so it only represents linear relationships. Deep learning can learn more, for instance non-linear effects and side features (Gunathilaka et al., 2025).
For the deep model I chose NeuMF, neural matrix factorisation (He et al., 2017). The survey by Zhang et al. (2019) classifies the neural collaborative filtering as the representative model. The model adds a network between viewer and film instead of a dot product that allows learning about more side features and relationships. That’s why it makes an excellent comparison to traditional MF. However, there are also disadvantages to deep learning:
Its a black box;
The algorithms need huge volume of data;
There is more complexity overall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both models.
On the left biased MF. A user id and a film id each become a vector of 100 numbers, an embedding. The prediction is the dot product of the two vectors plus the global mean, the user bias and the film bias. The bias is based on the formula of Koren, Bell and Volinsky (2009), winners of the Netflix Prize.
In short, NeuMF looks up two short vectors per user and film, feeds them through a multiplication branch that is matrix factorisation and a network branch that can be non-linear and read the side features, combines the two, and adds the same averages as the classical model. The diagram is designed by me based off the articles and diagrams by Koren et al (2009) and He et al. (2017).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RMSE is the root mean squared error: the typical distance in stars between the predicted and the real rating. The lower the better. Biased MF scores 0.912 and NeuMF 0.914. The difference is 0.002, while the scores vary by 0.008 from fold to fold. A paired t-test over the five folds gives a p-value of 0.10. This means that the two models are equally accurate.
NDCG at 10 checks the order of the list instead of the stars. Per viewer I take the films in the test part that this viewer rated, let the model put them in order from the highest to the lowest predicted rating, and keep the top ten. Then I read the real ratings in that order. A film the viewer gave five stars earns the most, and every position lower in the list earns less. This sum is divided by the sum of the best possible order, so 1 means a perfect order. Viewers with fewer than five test ratings are skipped and I report the average over viewers. Biased MF scores 0.913 and NeuMF 0.911. So the deep learning layers of NeuMF are not more accurate for this metric.
Training takes 0.9 seconds per fold for biased MF and 6.4 for NeuMF.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talked earlier about the folding strategy. I trained and tested five times, once per fold, and analyzed the average over the test parts, so the number does not depend on one lucky split. The hyperparameters are chosen for the training part.
So, to discuss this in more detail. The training error is how far off the model is on the ratings it learned from, and the test error is based on the test dataset (the data it has not been trained on).
For biased MF, I noticed that the training error is 0.69 and the test error stands at 0.93. The gap suggests overfitting.
For deep learning NeuMF model the training error keeps improving while the validation error was not improving after three to four epochs. That is why the early stopping kicked in to prevent overfitting and to keep the best weights.
The folding strategy allowed us to train the data in a way that we were able to make overfitting visible.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Lambda is the regularization hyperparameter that penalizes large numbers in the vectors. The model minimises the error on the training ratings plus lambda times the size of the vectors. With lambda at zero the model may overfit the training data resulting in memorization. The higher lambda means that prediction leans more on averages and less on the features captured in the vectors.
Using grid search on the training folds the best hyperparameters were 100 factors, 40 epochs, learning rate 0.01 and lambda 0.1. Lambda was the only significant hyperparameter, the error improved from 0.966 to 0.931 when lambda went from 0.02 to 0.1.
NeuMF model has two additional hyper parameters. The embedding size is the length of its vectors. Dropout switches off a random share of the network units at every training step, so the network cannot lean on a few units and overfits less. I tried several settings and they did not result in any differences, so I used the values 32 and 0.2 as in He et al. (2017).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(Lundberg and Lee, 2017) splits one prediction into a contribution per feature. The vectors are not really interpretable by a human, therefore I use features in SHAP for the explanation. For classical ML model I have used a tree SHAP. The tree model is interpretable and SHAP can then interpret the tree.
The features, thus, are not used by the actual models themselves.
Both classical and the deep learning models rely on the film's average, about 0.4, and the viewer's average, about 0.27. On NeuMF I also did local SHAP (where we can vary the features and observe the changes in the prediction) to study occupation and gender. Results show that healthcare occupation lowers the prediction by 0.16.  NeuMF is not fully explainable unfortunately.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confirms what Ekstrand et al. (2018) also found on MovieLens that women are underrepresented and they have slightly higher error rate of 0.07.  This is a sampling bias.
MF seems to overpredict when data is scarce prediction data for a movie as movies with fewer than 10 ratings have are overpredicted by 0.23 stars and have higher error rate of 0.16. This represents about 530 out of the 1.682 films.
There is a popularity bias as only 225 (167 DL) of 1.682 movies have a recommendation.
What would I do? Always reserve a share of every top-N list for infrequently rated films by re-ranking (Jayalakshmi et al., 2022; Abdollahpouri et al., 2019) against popularity bias.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is a concern because the number of interactions grows significantly as users and/or movies are added to the platform. But is based on the requirements of the viewers.
It is reasonable to assume that the majority of users view less than a movie every day, therefore I would precomputing recommendations overnight on a server deployed in the cloud
If real-time analysis is a concern, I would implement a hybrid strategy based on content features we select top N per viewer and compute the recommendations. This will drastically reduce the required computing power (Zhang et al., 2020)
Every top N keeps a share for infrequently rated films (Jayalakshmi et al., 2022; Abdollahpouri et al., 2019).
I would implement a content-based strategy with onboarding questionnaire for new users
I would monitor the error rate and retrain based on changes in the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Biased MF matches NeuMF on RMSE and is slightly better on NDCG and the classical machine learning algorithm is more efficient and explainable.
We do have scarce features, and 100.000 rows is little for DL model, so it was expected to not see any major differences.
We have sampling bias for women and popularity bias against inactive viewers or rarely rated films. We have discussed various strategies on how to handle these concerns.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Biased MF matches NeuMF on RMSE and is slightly better on NDCG and the classical machine learning algorithm is more efficient and explainable.
We do have scarce features, and 100.000 rows is little for DL model, so it was expected to not see any major differences.
We have sampling bias for women and popularity bias against inactive viewers or rarely rated films. We have discussed various strategies on how to handle these concerns.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84577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list.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rtlCol="0"/>
          <a:lstStyle>
            <a:lvl1pPr marL="0" indent="0">
              <a:buNone/>
              <a:defRPr lang="en-US" sz="1000" b="1" kern="0" spc="300" dirty="0">
                <a:solidFill>
                  <a:schemeClr val="accent1"/>
                </a:solidFill>
              </a:defRPr>
            </a:lvl1pPr>
          </a:lstStyle>
          <a:p>
            <a:pPr marL="0" indent="0">
              <a:buNone/>
            </a:pP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ALT">
    <p:bg>
      <p:bgPr>
        <a:solidFill>
          <a:srgbClr val="F4F5F7"/>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rtlCol="0"/>
          <a:lstStyle>
            <a:lvl1pPr marL="0" indent="0">
              <a:buNone/>
              <a:defRPr lang="en-US" sz="1000" b="1" kern="0" spc="300" dirty="0">
                <a:solidFill>
                  <a:schemeClr val="accent1"/>
                </a:solidFill>
              </a:defRPr>
            </a:lvl1pPr>
          </a:lstStyle>
          <a:p>
            <a:pPr marL="0" indent="0">
              <a:buNone/>
            </a:pP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2103120"/>
            <a:ext cx="10820095" cy="274320"/>
          </a:xfrm>
          <a:prstGeom prst="rect">
            <a:avLst/>
          </a:prstGeom>
          <a:noFill/>
          <a:ln/>
        </p:spPr>
        <p:txBody>
          <a:bodyPr wrap="square" rtlCol="0"/>
          <a:lstStyle>
            <a:lvl1pPr marL="0" indent="0">
              <a:buNone/>
              <a:defRPr lang="en-US" sz="1000" b="1" kern="0" spc="300" dirty="0">
                <a:solidFill>
                  <a:schemeClr val="accent1"/>
                </a:solidFill>
              </a:defRPr>
            </a:lvl1pPr>
          </a:lstStyle>
          <a:p>
            <a:pPr marL="0" indent="0">
              <a:buNone/>
            </a:pPr>
            <a:endParaRPr lang="en-US" sz="1000" dirty="0"/>
          </a:p>
        </p:txBody>
      </p:sp>
      <p:sp>
        <p:nvSpPr>
          <p:cNvPr id="3" name="Text 0"/>
          <p:cNvSpPr>
            <a:spLocks noGrp="1"/>
          </p:cNvSpPr>
          <p:nvPr>
            <p:ph type="title" idx="101" hasCustomPrompt="1"/>
          </p:nvPr>
        </p:nvSpPr>
        <p:spPr>
          <a:xfrm>
            <a:off x="685800" y="2423160"/>
            <a:ext cx="8686800" cy="137160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0"/>
          <p:cNvSpPr>
            <a:spLocks noGrp="1"/>
          </p:cNvSpPr>
          <p:nvPr>
            <p:ph type="body" idx="102" hasCustomPrompt="1"/>
          </p:nvPr>
        </p:nvSpPr>
        <p:spPr>
          <a:xfrm>
            <a:off x="685800" y="4069080"/>
            <a:ext cx="8229600" cy="1280160"/>
          </a:xfrm>
          <a:prstGeom prst="rect">
            <a:avLst/>
          </a:prstGeom>
          <a:noFill/>
          <a:ln/>
        </p:spPr>
        <p:txBody>
          <a:bodyPr wrap="square" rtlCol="0"/>
          <a:lstStyle>
            <a:lvl1pPr marL="0" indent="0">
              <a:buNone/>
              <a:defRPr lang="en-US" sz="1400" dirty="0">
                <a:solidFill>
                  <a:schemeClr val="tx2"/>
                </a:solidFill>
              </a:defRPr>
            </a:lvl1pPr>
          </a:lstStyle>
          <a:p>
            <a:pPr marL="0" indent="0">
              <a:buNone/>
            </a:pPr>
            <a:endParaRPr lang="en-US" sz="1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41920"/>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rtlCol="0"/>
          <a:lstStyle>
            <a:lvl1pPr marL="0" indent="0">
              <a:buNone/>
              <a:defRPr lang="en-US" sz="1000" b="1" kern="0" spc="300" dirty="0">
                <a:solidFill>
                  <a:srgbClr val="8FB3D6"/>
                </a:solidFill>
              </a:defRPr>
            </a:lvl1pPr>
          </a:lstStyle>
          <a:p>
            <a:pPr marL="0" indent="0">
              <a:buNone/>
            </a:pP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rtlCol="0"/>
          <a:lstStyle>
            <a:lvl1pPr marL="0" indent="0" algn="l">
              <a:buNone/>
              <a:defRPr lang="en-US" sz="2400" b="1" dirty="0">
                <a:solidFill>
                  <a:schemeClr val="bg1"/>
                </a:solidFill>
              </a:defRPr>
            </a:lvl1pPr>
          </a:lstStyle>
          <a:p>
            <a:pPr marL="0" indent="0" algn="l">
              <a:buNone/>
            </a:pPr>
            <a:endParaRPr lang="en-US" sz="2400" dirty="0"/>
          </a:p>
        </p:txBody>
      </p:sp>
      <p:sp>
        <p:nvSpPr>
          <p:cNvPr id="4" name="Text 0"/>
          <p:cNvSpPr>
            <a:spLocks noGrp="1"/>
          </p:cNvSpPr>
          <p:nvPr>
            <p:ph type="body" idx="102" hasCustomPrompt="1"/>
          </p:nvPr>
        </p:nvSpPr>
        <p:spPr>
          <a:xfrm>
            <a:off x="685800" y="1737360"/>
            <a:ext cx="10820095" cy="4206240"/>
          </a:xfrm>
          <a:prstGeom prst="rect">
            <a:avLst/>
          </a:prstGeom>
          <a:noFill/>
          <a:ln/>
        </p:spPr>
        <p:txBody>
          <a:bodyPr wrap="square" rtlCol="0"/>
          <a:lstStyle>
            <a:lvl1pPr marL="0" indent="0">
              <a:buNone/>
              <a:defRPr lang="en-US" sz="1400" dirty="0">
                <a:solidFill>
                  <a:srgbClr val="9AA6B2"/>
                </a:solidFill>
              </a:defRPr>
            </a:lvl1pPr>
          </a:lstStyle>
          <a:p>
            <a:pPr marL="0" indent="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hyperlink" Target="https://doi.org/10.1145/3038912.3052569" TargetMode="External"/><Relationship Id="rId13" Type="http://schemas.openxmlformats.org/officeDocument/2006/relationships/hyperlink" Target="https://doi.org/10.1109/SP.2008.33" TargetMode="External"/><Relationship Id="rId3" Type="http://schemas.openxmlformats.org/officeDocument/2006/relationships/hyperlink" Target="https://arxiv.org/abs/1901.07555" TargetMode="External"/><Relationship Id="rId7" Type="http://schemas.openxmlformats.org/officeDocument/2006/relationships/hyperlink" Target="https://doi.org/10.1145/2827872" TargetMode="External"/><Relationship Id="rId12" Type="http://schemas.openxmlformats.org/officeDocument/2006/relationships/hyperlink" Target="https://arxiv.org/abs/1705.07874"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doi.org/10.1016/j.iswa.2024.200474" TargetMode="External"/><Relationship Id="rId11" Type="http://schemas.openxmlformats.org/officeDocument/2006/relationships/hyperlink" Target="https://doi.org/10.1109/MC.2009.263" TargetMode="External"/><Relationship Id="rId5" Type="http://schemas.openxmlformats.org/officeDocument/2006/relationships/hyperlink" Target="https://grouplens.org/datasets/movielens/100k/" TargetMode="External"/><Relationship Id="rId15" Type="http://schemas.openxmlformats.org/officeDocument/2006/relationships/hyperlink" Target="https://doi.org/10.1145/3285029" TargetMode="External"/><Relationship Id="rId10" Type="http://schemas.openxmlformats.org/officeDocument/2006/relationships/hyperlink" Target="https://doi.org/10.3390/s22134904" TargetMode="External"/><Relationship Id="rId4" Type="http://schemas.openxmlformats.org/officeDocument/2006/relationships/hyperlink" Target="https://proceedings.mlr.press/v81/ekstrand18b.html" TargetMode="External"/><Relationship Id="rId9" Type="http://schemas.openxmlformats.org/officeDocument/2006/relationships/hyperlink" Target="https://doi.org/10.1007/s13278-020-0626-2" TargetMode="External"/><Relationship Id="rId14" Type="http://schemas.openxmlformats.org/officeDocument/2006/relationships/hyperlink" Target="https://doi.org/10.26599/TST.2018.9010118"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685800" y="2423160"/>
            <a:ext cx="8686800" cy="1371600"/>
          </a:xfrm>
          <a:prstGeom prst="rect">
            <a:avLst/>
          </a:prstGeom>
          <a:noFill/>
          <a:ln/>
        </p:spPr>
        <p:txBody>
          <a:bodyPr wrap="square" lIns="0" tIns="0" rIns="0" bIns="0" rtlCol="0" anchor="t"/>
          <a:lstStyle/>
          <a:p>
            <a:pPr marL="0" indent="0" algn="l">
              <a:buNone/>
            </a:pPr>
            <a:r>
              <a:rPr lang="en-US" sz="3600" b="1" dirty="0">
                <a:solidFill>
                  <a:schemeClr val="tx1"/>
                </a:solidFill>
              </a:rPr>
              <a:t>A movie recommender: classical machine learning versus deep learning</a:t>
            </a:r>
            <a:endParaRPr lang="en-US" sz="3600" dirty="0"/>
          </a:p>
        </p:txBody>
      </p:sp>
      <p:sp>
        <p:nvSpPr>
          <p:cNvPr id="4" name="rule"/>
          <p:cNvSpPr/>
          <p:nvPr/>
        </p:nvSpPr>
        <p:spPr>
          <a:xfrm>
            <a:off x="685800" y="3886200"/>
            <a:ext cx="548640" cy="36576"/>
          </a:xfrm>
          <a:prstGeom prst="rect">
            <a:avLst/>
          </a:prstGeom>
          <a:solidFill>
            <a:srgbClr val="1F4E79"/>
          </a:solidFill>
          <a:ln w="12700">
            <a:solidFill>
              <a:srgbClr val="1F4E79"/>
            </a:solidFill>
            <a:prstDash val="solid"/>
          </a:ln>
        </p:spPr>
        <p:txBody>
          <a:bodyPr/>
          <a:lstStyle/>
          <a:p>
            <a:endParaRPr lang="en-US"/>
          </a:p>
        </p:txBody>
      </p:sp>
      <p:sp>
        <p:nvSpPr>
          <p:cNvPr id="5" name="Text 0"/>
          <p:cNvSpPr>
            <a:spLocks noGrp="1"/>
          </p:cNvSpPr>
          <p:nvPr>
            <p:ph type="body" idx="102" hasCustomPrompt="1"/>
          </p:nvPr>
        </p:nvSpPr>
        <p:spPr>
          <a:xfrm>
            <a:off x="685800" y="4069080"/>
            <a:ext cx="8229600" cy="1280160"/>
          </a:xfrm>
          <a:prstGeom prst="rect">
            <a:avLst/>
          </a:prstGeom>
          <a:noFill/>
          <a:ln/>
        </p:spPr>
        <p:txBody>
          <a:bodyPr wrap="square" lIns="0" tIns="0" rIns="0" bIns="0" rtlCol="0" anchor="t"/>
          <a:lstStyle/>
          <a:p>
            <a:pPr marL="0" indent="0">
              <a:buNone/>
            </a:pPr>
            <a:r>
              <a:rPr lang="en-US" sz="1400" dirty="0">
                <a:solidFill>
                  <a:schemeClr val="tx2"/>
                </a:solidFill>
              </a:rPr>
              <a:t>Biased matrix factorisation against NeuMF on MovieLens 100K</a:t>
            </a:r>
            <a:endParaRPr lang="en-US" sz="1400" dirty="0"/>
          </a:p>
          <a:p>
            <a:pPr marL="0" indent="0">
              <a:buNone/>
            </a:pPr>
            <a:r>
              <a:rPr lang="en-US" sz="1100" dirty="0">
                <a:solidFill>
                  <a:srgbClr val="8A929C"/>
                </a:solidFill>
              </a:rPr>
              <a:t>Track B</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2000" advTm="22329"/>
    </mc:Choice>
    <mc:Fallback xmlns="">
      <p:transition spd="slow" advTm="223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01 / DATASET SELECTION AND PREPROCESSING</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Dataset: MovieLens 100K</a:t>
            </a:r>
            <a:endParaRPr lang="en-US" sz="2400" dirty="0"/>
          </a:p>
        </p:txBody>
      </p:sp>
      <p:sp>
        <p:nvSpPr>
          <p:cNvPr id="4" name="tile0"/>
          <p:cNvSpPr/>
          <p:nvPr/>
        </p:nvSpPr>
        <p:spPr>
          <a:xfrm>
            <a:off x="685800" y="1783080"/>
            <a:ext cx="2533574" cy="1600200"/>
          </a:xfrm>
          <a:prstGeom prst="roundRect">
            <a:avLst>
              <a:gd name="adj" fmla="val 3429"/>
            </a:avLst>
          </a:prstGeom>
          <a:solidFill>
            <a:srgbClr val="EEF3F8"/>
          </a:solidFill>
          <a:ln w="12700">
            <a:solidFill>
              <a:srgbClr val="EEF3F8"/>
            </a:solidFill>
            <a:prstDash val="solid"/>
          </a:ln>
        </p:spPr>
        <p:txBody>
          <a:bodyPr/>
          <a:lstStyle/>
          <a:p>
            <a:endParaRPr lang="en-US"/>
          </a:p>
        </p:txBody>
      </p:sp>
      <p:sp>
        <p:nvSpPr>
          <p:cNvPr id="5" name="value0"/>
          <p:cNvSpPr txBox="1"/>
          <p:nvPr/>
        </p:nvSpPr>
        <p:spPr>
          <a:xfrm>
            <a:off x="868680" y="1920240"/>
            <a:ext cx="2167814" cy="731520"/>
          </a:xfrm>
          <a:prstGeom prst="rect">
            <a:avLst/>
          </a:prstGeom>
          <a:noFill/>
          <a:ln/>
        </p:spPr>
        <p:txBody>
          <a:bodyPr wrap="square" lIns="0" tIns="0" rIns="0" bIns="0" rtlCol="0" anchor="ctr"/>
          <a:lstStyle/>
          <a:p>
            <a:pPr marL="0" indent="0">
              <a:buNone/>
            </a:pPr>
            <a:r>
              <a:rPr lang="en-US" sz="2800" b="1" dirty="0">
                <a:solidFill>
                  <a:srgbClr val="1F4E79"/>
                </a:solidFill>
                <a:latin typeface="Arial" pitchFamily="34" charset="0"/>
                <a:ea typeface="Arial" pitchFamily="34" charset="-122"/>
                <a:cs typeface="Arial" pitchFamily="34" charset="-120"/>
              </a:rPr>
              <a:t>100,000</a:t>
            </a:r>
            <a:endParaRPr lang="en-US" sz="2800" dirty="0"/>
          </a:p>
        </p:txBody>
      </p:sp>
      <p:sp>
        <p:nvSpPr>
          <p:cNvPr id="6" name="label0"/>
          <p:cNvSpPr txBox="1"/>
          <p:nvPr/>
        </p:nvSpPr>
        <p:spPr>
          <a:xfrm>
            <a:off x="868680" y="2651760"/>
            <a:ext cx="2167814" cy="320040"/>
          </a:xfrm>
          <a:prstGeom prst="rect">
            <a:avLst/>
          </a:prstGeom>
          <a:noFill/>
          <a:ln/>
        </p:spPr>
        <p:txBody>
          <a:bodyPr wrap="square" lIns="0" tIns="0" rIns="0" bIns="0" rtlCol="0" anchor="ctr"/>
          <a:lstStyle/>
          <a:p>
            <a:pPr marL="0" indent="0">
              <a:buNone/>
            </a:pPr>
            <a:r>
              <a:rPr lang="en-US" sz="1200" b="1" dirty="0">
                <a:solidFill>
                  <a:srgbClr val="141920"/>
                </a:solidFill>
                <a:latin typeface="Arial" pitchFamily="34" charset="0"/>
                <a:ea typeface="Arial" pitchFamily="34" charset="-122"/>
                <a:cs typeface="Arial" pitchFamily="34" charset="-120"/>
              </a:rPr>
              <a:t>ratings, 1 to 5 stars</a:t>
            </a:r>
            <a:endParaRPr lang="en-US" sz="1200" dirty="0"/>
          </a:p>
        </p:txBody>
      </p:sp>
      <p:sp>
        <p:nvSpPr>
          <p:cNvPr id="7" name="sub0"/>
          <p:cNvSpPr txBox="1"/>
          <p:nvPr/>
        </p:nvSpPr>
        <p:spPr>
          <a:xfrm>
            <a:off x="868680" y="2953512"/>
            <a:ext cx="2167814" cy="384048"/>
          </a:xfrm>
          <a:prstGeom prst="rect">
            <a:avLst/>
          </a:prstGeom>
          <a:noFill/>
          <a:ln/>
        </p:spPr>
        <p:txBody>
          <a:bodyPr wrap="square" lIns="0" tIns="0" rIns="0" bIns="0" rtlCol="0" anchor="t"/>
          <a:lstStyle/>
          <a:p>
            <a:pPr marL="0" indent="0">
              <a:buNone/>
            </a:pPr>
            <a:r>
              <a:rPr lang="en-US" sz="1000" dirty="0">
                <a:solidFill>
                  <a:srgbClr val="5C6672"/>
                </a:solidFill>
                <a:latin typeface="Arial" pitchFamily="34" charset="0"/>
                <a:ea typeface="Arial" pitchFamily="34" charset="-122"/>
                <a:cs typeface="Arial" pitchFamily="34" charset="-120"/>
              </a:rPr>
              <a:t>collected 1997 to 1998 (GroupLens Research, 1998)</a:t>
            </a:r>
            <a:endParaRPr lang="en-US" sz="1000" dirty="0"/>
          </a:p>
        </p:txBody>
      </p:sp>
      <p:sp>
        <p:nvSpPr>
          <p:cNvPr id="8" name="tile1"/>
          <p:cNvSpPr/>
          <p:nvPr/>
        </p:nvSpPr>
        <p:spPr>
          <a:xfrm>
            <a:off x="3447974" y="1783080"/>
            <a:ext cx="2533574" cy="1600200"/>
          </a:xfrm>
          <a:prstGeom prst="roundRect">
            <a:avLst>
              <a:gd name="adj" fmla="val 3429"/>
            </a:avLst>
          </a:prstGeom>
          <a:solidFill>
            <a:srgbClr val="EEF3F8"/>
          </a:solidFill>
          <a:ln w="12700">
            <a:solidFill>
              <a:srgbClr val="EEF3F8"/>
            </a:solidFill>
            <a:prstDash val="solid"/>
          </a:ln>
        </p:spPr>
        <p:txBody>
          <a:bodyPr/>
          <a:lstStyle/>
          <a:p>
            <a:endParaRPr lang="en-US"/>
          </a:p>
        </p:txBody>
      </p:sp>
      <p:sp>
        <p:nvSpPr>
          <p:cNvPr id="9" name="value1"/>
          <p:cNvSpPr txBox="1"/>
          <p:nvPr/>
        </p:nvSpPr>
        <p:spPr>
          <a:xfrm>
            <a:off x="3630854" y="1920240"/>
            <a:ext cx="2167814" cy="731520"/>
          </a:xfrm>
          <a:prstGeom prst="rect">
            <a:avLst/>
          </a:prstGeom>
          <a:noFill/>
          <a:ln/>
        </p:spPr>
        <p:txBody>
          <a:bodyPr wrap="square" lIns="0" tIns="0" rIns="0" bIns="0" rtlCol="0" anchor="ctr"/>
          <a:lstStyle/>
          <a:p>
            <a:pPr marL="0" indent="0">
              <a:buNone/>
            </a:pPr>
            <a:r>
              <a:rPr lang="en-US" sz="3400" b="1" dirty="0">
                <a:solidFill>
                  <a:srgbClr val="1F4E79"/>
                </a:solidFill>
                <a:latin typeface="Arial" pitchFamily="34" charset="0"/>
                <a:ea typeface="Arial" pitchFamily="34" charset="-122"/>
                <a:cs typeface="Arial" pitchFamily="34" charset="-120"/>
              </a:rPr>
              <a:t>943</a:t>
            </a:r>
            <a:endParaRPr lang="en-US" sz="3400" dirty="0"/>
          </a:p>
        </p:txBody>
      </p:sp>
      <p:sp>
        <p:nvSpPr>
          <p:cNvPr id="10" name="label1"/>
          <p:cNvSpPr txBox="1"/>
          <p:nvPr/>
        </p:nvSpPr>
        <p:spPr>
          <a:xfrm>
            <a:off x="3630854" y="2651760"/>
            <a:ext cx="2167814" cy="320040"/>
          </a:xfrm>
          <a:prstGeom prst="rect">
            <a:avLst/>
          </a:prstGeom>
          <a:noFill/>
          <a:ln/>
        </p:spPr>
        <p:txBody>
          <a:bodyPr wrap="square" lIns="0" tIns="0" rIns="0" bIns="0" rtlCol="0" anchor="ctr"/>
          <a:lstStyle/>
          <a:p>
            <a:pPr marL="0" indent="0">
              <a:buNone/>
            </a:pPr>
            <a:r>
              <a:rPr lang="en-US" sz="1200" b="1" dirty="0">
                <a:solidFill>
                  <a:srgbClr val="141920"/>
                </a:solidFill>
                <a:latin typeface="Arial" pitchFamily="34" charset="0"/>
                <a:ea typeface="Arial" pitchFamily="34" charset="-122"/>
                <a:cs typeface="Arial" pitchFamily="34" charset="-120"/>
              </a:rPr>
              <a:t>viewers</a:t>
            </a:r>
            <a:endParaRPr lang="en-US" sz="1200" dirty="0"/>
          </a:p>
        </p:txBody>
      </p:sp>
      <p:sp>
        <p:nvSpPr>
          <p:cNvPr id="11" name="sub1"/>
          <p:cNvSpPr txBox="1"/>
          <p:nvPr/>
        </p:nvSpPr>
        <p:spPr>
          <a:xfrm>
            <a:off x="3630854" y="2953512"/>
            <a:ext cx="2167814" cy="384048"/>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5C6672"/>
                </a:solidFill>
                <a:latin typeface="Arial" pitchFamily="34" charset="0"/>
                <a:ea typeface="Arial" pitchFamily="34" charset="-122"/>
                <a:cs typeface="Arial" pitchFamily="34" charset="-120"/>
              </a:rPr>
              <a:t>gender, age, occupation</a:t>
            </a:r>
          </a:p>
          <a:p>
            <a:pPr marL="171450" indent="-171450">
              <a:buFont typeface="Arial" panose="020B0604020202020204" pitchFamily="34" charset="0"/>
              <a:buChar char="•"/>
            </a:pPr>
            <a:r>
              <a:rPr lang="en-US" sz="1000" dirty="0">
                <a:solidFill>
                  <a:srgbClr val="5C6672"/>
                </a:solidFill>
                <a:latin typeface="Arial" pitchFamily="34" charset="0"/>
                <a:ea typeface="Arial" pitchFamily="34" charset="-122"/>
                <a:cs typeface="Arial" pitchFamily="34" charset="-120"/>
              </a:rPr>
              <a:t>&gt;= 20 ratings each</a:t>
            </a:r>
            <a:endParaRPr lang="en-US" sz="1000" dirty="0"/>
          </a:p>
        </p:txBody>
      </p:sp>
      <p:sp>
        <p:nvSpPr>
          <p:cNvPr id="12" name="tile2"/>
          <p:cNvSpPr/>
          <p:nvPr/>
        </p:nvSpPr>
        <p:spPr>
          <a:xfrm>
            <a:off x="6210148" y="1783080"/>
            <a:ext cx="2533574" cy="1600200"/>
          </a:xfrm>
          <a:prstGeom prst="roundRect">
            <a:avLst>
              <a:gd name="adj" fmla="val 3429"/>
            </a:avLst>
          </a:prstGeom>
          <a:solidFill>
            <a:srgbClr val="EEF3F8"/>
          </a:solidFill>
          <a:ln w="12700">
            <a:solidFill>
              <a:srgbClr val="EEF3F8"/>
            </a:solidFill>
            <a:prstDash val="solid"/>
          </a:ln>
        </p:spPr>
        <p:txBody>
          <a:bodyPr/>
          <a:lstStyle/>
          <a:p>
            <a:endParaRPr lang="en-US"/>
          </a:p>
        </p:txBody>
      </p:sp>
      <p:sp>
        <p:nvSpPr>
          <p:cNvPr id="13" name="value2"/>
          <p:cNvSpPr txBox="1"/>
          <p:nvPr/>
        </p:nvSpPr>
        <p:spPr>
          <a:xfrm>
            <a:off x="6393028" y="1920240"/>
            <a:ext cx="2167814" cy="731520"/>
          </a:xfrm>
          <a:prstGeom prst="rect">
            <a:avLst/>
          </a:prstGeom>
          <a:noFill/>
          <a:ln/>
        </p:spPr>
        <p:txBody>
          <a:bodyPr wrap="square" lIns="0" tIns="0" rIns="0" bIns="0" rtlCol="0" anchor="ctr"/>
          <a:lstStyle/>
          <a:p>
            <a:pPr marL="0" indent="0">
              <a:buNone/>
            </a:pPr>
            <a:r>
              <a:rPr lang="en-US" sz="3400" b="1" dirty="0">
                <a:solidFill>
                  <a:srgbClr val="1F4E79"/>
                </a:solidFill>
                <a:latin typeface="Arial" pitchFamily="34" charset="0"/>
                <a:ea typeface="Arial" pitchFamily="34" charset="-122"/>
                <a:cs typeface="Arial" pitchFamily="34" charset="-120"/>
              </a:rPr>
              <a:t>1,682</a:t>
            </a:r>
            <a:endParaRPr lang="en-US" sz="3400" dirty="0"/>
          </a:p>
        </p:txBody>
      </p:sp>
      <p:sp>
        <p:nvSpPr>
          <p:cNvPr id="14" name="label2"/>
          <p:cNvSpPr txBox="1"/>
          <p:nvPr/>
        </p:nvSpPr>
        <p:spPr>
          <a:xfrm>
            <a:off x="6393028" y="2651760"/>
            <a:ext cx="2167814" cy="320040"/>
          </a:xfrm>
          <a:prstGeom prst="rect">
            <a:avLst/>
          </a:prstGeom>
          <a:noFill/>
          <a:ln/>
        </p:spPr>
        <p:txBody>
          <a:bodyPr wrap="square" lIns="0" tIns="0" rIns="0" bIns="0" rtlCol="0" anchor="ctr"/>
          <a:lstStyle/>
          <a:p>
            <a:pPr marL="0" indent="0">
              <a:buNone/>
            </a:pPr>
            <a:r>
              <a:rPr lang="en-US" sz="1200" b="1" dirty="0">
                <a:solidFill>
                  <a:srgbClr val="141920"/>
                </a:solidFill>
                <a:latin typeface="Arial" pitchFamily="34" charset="0"/>
                <a:ea typeface="Arial" pitchFamily="34" charset="-122"/>
                <a:cs typeface="Arial" pitchFamily="34" charset="-120"/>
              </a:rPr>
              <a:t>films</a:t>
            </a:r>
            <a:endParaRPr lang="en-US" sz="1200" dirty="0"/>
          </a:p>
        </p:txBody>
      </p:sp>
      <p:sp>
        <p:nvSpPr>
          <p:cNvPr id="15" name="sub2"/>
          <p:cNvSpPr txBox="1"/>
          <p:nvPr/>
        </p:nvSpPr>
        <p:spPr>
          <a:xfrm>
            <a:off x="6393028" y="2953512"/>
            <a:ext cx="2167814" cy="384048"/>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5C6672"/>
                </a:solidFill>
                <a:latin typeface="Arial" pitchFamily="34" charset="0"/>
                <a:ea typeface="Arial" pitchFamily="34" charset="-122"/>
                <a:cs typeface="Arial" pitchFamily="34" charset="-120"/>
              </a:rPr>
              <a:t>title, year, 19 genres</a:t>
            </a:r>
          </a:p>
          <a:p>
            <a:pPr marL="171450" indent="-171450">
              <a:buFont typeface="Arial" panose="020B0604020202020204" pitchFamily="34" charset="0"/>
              <a:buChar char="•"/>
            </a:pPr>
            <a:r>
              <a:rPr lang="en-US" sz="1000" dirty="0">
                <a:solidFill>
                  <a:srgbClr val="5C6672"/>
                </a:solidFill>
                <a:latin typeface="Arial" pitchFamily="34" charset="0"/>
                <a:ea typeface="Arial" pitchFamily="34" charset="-122"/>
                <a:cs typeface="Arial" pitchFamily="34" charset="-120"/>
              </a:rPr>
              <a:t>&gt;=1 rating each</a:t>
            </a:r>
            <a:endParaRPr lang="en-US" sz="1000" dirty="0"/>
          </a:p>
        </p:txBody>
      </p:sp>
      <p:sp>
        <p:nvSpPr>
          <p:cNvPr id="16" name="tile3"/>
          <p:cNvSpPr/>
          <p:nvPr/>
        </p:nvSpPr>
        <p:spPr>
          <a:xfrm>
            <a:off x="8972321" y="1783080"/>
            <a:ext cx="2533574" cy="1600200"/>
          </a:xfrm>
          <a:prstGeom prst="roundRect">
            <a:avLst>
              <a:gd name="adj" fmla="val 3429"/>
            </a:avLst>
          </a:prstGeom>
          <a:solidFill>
            <a:srgbClr val="EEF3F8"/>
          </a:solidFill>
          <a:ln w="12700">
            <a:solidFill>
              <a:srgbClr val="EEF3F8"/>
            </a:solidFill>
            <a:prstDash val="solid"/>
          </a:ln>
        </p:spPr>
        <p:txBody>
          <a:bodyPr/>
          <a:lstStyle/>
          <a:p>
            <a:endParaRPr lang="en-US"/>
          </a:p>
        </p:txBody>
      </p:sp>
      <p:sp>
        <p:nvSpPr>
          <p:cNvPr id="17" name="value3"/>
          <p:cNvSpPr txBox="1"/>
          <p:nvPr/>
        </p:nvSpPr>
        <p:spPr>
          <a:xfrm>
            <a:off x="9155201" y="1920240"/>
            <a:ext cx="2167814" cy="731520"/>
          </a:xfrm>
          <a:prstGeom prst="rect">
            <a:avLst/>
          </a:prstGeom>
          <a:noFill/>
          <a:ln/>
        </p:spPr>
        <p:txBody>
          <a:bodyPr wrap="square" lIns="0" tIns="0" rIns="0" bIns="0" rtlCol="0" anchor="ctr"/>
          <a:lstStyle/>
          <a:p>
            <a:pPr marL="0" indent="0">
              <a:buNone/>
            </a:pPr>
            <a:r>
              <a:rPr lang="en-US" sz="3400" b="1" dirty="0">
                <a:solidFill>
                  <a:srgbClr val="1F4E79"/>
                </a:solidFill>
                <a:latin typeface="Arial" pitchFamily="34" charset="0"/>
                <a:ea typeface="Arial" pitchFamily="34" charset="-122"/>
                <a:cs typeface="Arial" pitchFamily="34" charset="-120"/>
              </a:rPr>
              <a:t>6.3%</a:t>
            </a:r>
            <a:endParaRPr lang="en-US" sz="3400" dirty="0"/>
          </a:p>
        </p:txBody>
      </p:sp>
      <p:sp>
        <p:nvSpPr>
          <p:cNvPr id="18" name="label3"/>
          <p:cNvSpPr txBox="1"/>
          <p:nvPr/>
        </p:nvSpPr>
        <p:spPr>
          <a:xfrm>
            <a:off x="9155201" y="2651760"/>
            <a:ext cx="2167814" cy="320040"/>
          </a:xfrm>
          <a:prstGeom prst="rect">
            <a:avLst/>
          </a:prstGeom>
          <a:noFill/>
          <a:ln/>
        </p:spPr>
        <p:txBody>
          <a:bodyPr wrap="square" lIns="0" tIns="0" rIns="0" bIns="0" rtlCol="0" anchor="ctr"/>
          <a:lstStyle/>
          <a:p>
            <a:pPr marL="0" indent="0">
              <a:buNone/>
            </a:pPr>
            <a:r>
              <a:rPr lang="en-US" sz="1200" b="1" dirty="0">
                <a:solidFill>
                  <a:srgbClr val="141920"/>
                </a:solidFill>
                <a:latin typeface="Arial" pitchFamily="34" charset="0"/>
                <a:ea typeface="Arial" pitchFamily="34" charset="-122"/>
                <a:cs typeface="Arial" pitchFamily="34" charset="-120"/>
              </a:rPr>
              <a:t>of the table is filled</a:t>
            </a:r>
            <a:endParaRPr lang="en-US" sz="1200" dirty="0"/>
          </a:p>
        </p:txBody>
      </p:sp>
      <p:sp>
        <p:nvSpPr>
          <p:cNvPr id="19" name="sub3"/>
          <p:cNvSpPr txBox="1"/>
          <p:nvPr/>
        </p:nvSpPr>
        <p:spPr>
          <a:xfrm>
            <a:off x="9155201" y="2953512"/>
            <a:ext cx="2167814" cy="384048"/>
          </a:xfrm>
          <a:prstGeom prst="rect">
            <a:avLst/>
          </a:prstGeom>
          <a:noFill/>
          <a:ln/>
        </p:spPr>
        <p:txBody>
          <a:bodyPr wrap="square" lIns="0" tIns="0" rIns="0" bIns="0" rtlCol="0" anchor="t"/>
          <a:lstStyle/>
          <a:p>
            <a:r>
              <a:rPr lang="en-US" sz="1000" b="1" dirty="0">
                <a:solidFill>
                  <a:srgbClr val="5C6672"/>
                </a:solidFill>
                <a:latin typeface="Arial" pitchFamily="34" charset="0"/>
                <a:ea typeface="Arial" pitchFamily="34" charset="-122"/>
                <a:cs typeface="Arial" pitchFamily="34" charset="-120"/>
              </a:rPr>
              <a:t>Sparsity</a:t>
            </a:r>
            <a:r>
              <a:rPr lang="en-US" sz="1000" dirty="0">
                <a:solidFill>
                  <a:srgbClr val="5C6672"/>
                </a:solidFill>
                <a:latin typeface="Arial" pitchFamily="34" charset="0"/>
                <a:ea typeface="Arial" pitchFamily="34" charset="-122"/>
                <a:cs typeface="Arial" pitchFamily="34" charset="-120"/>
              </a:rPr>
              <a:t>: 93.7% of the movies have no rating from the average user</a:t>
            </a:r>
            <a:endParaRPr lang="en-US" sz="100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45997"/>
    </mc:Choice>
    <mc:Fallback xmlns="">
      <p:transition spd="slow" advTm="459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01 / DATASET SELECTION AND PREPROCESSING</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EDA</a:t>
            </a:r>
            <a:endParaRPr lang="en-US" sz="2400" dirty="0"/>
          </a:p>
        </p:txBody>
      </p:sp>
      <p:pic>
        <p:nvPicPr>
          <p:cNvPr id="4" name="figure" descr="/tmp/claude-0/-home-claude/3abe6651-2ee8-53d0-a65b-59a0396ea4df/scratchpad/repos/MovieRecommender/reports/presentation/data.png"/>
          <p:cNvPicPr>
            <a:picLocks noChangeAspect="1"/>
          </p:cNvPicPr>
          <p:nvPr/>
        </p:nvPicPr>
        <p:blipFill>
          <a:blip r:embed="rId3"/>
          <a:stretch>
            <a:fillRect/>
          </a:stretch>
        </p:blipFill>
        <p:spPr>
          <a:xfrm>
            <a:off x="685800" y="1964436"/>
            <a:ext cx="6949440" cy="3706368"/>
          </a:xfrm>
          <a:prstGeom prst="rect">
            <a:avLst/>
          </a:prstGeom>
        </p:spPr>
      </p:pic>
      <p:sp>
        <p:nvSpPr>
          <p:cNvPr id="5" name="Text 2"/>
          <p:cNvSpPr txBox="1"/>
          <p:nvPr/>
        </p:nvSpPr>
        <p:spPr>
          <a:xfrm>
            <a:off x="7955280" y="1783080"/>
            <a:ext cx="3550615" cy="416052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The data is skewed, not evenly distributed</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Most ratings go to a few genres (drama, comedy)</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Men give around 74% of the ratings</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Most viewers rate few films; most films get few ratings</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We take this into account in the bias analysis</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27755"/>
    </mc:Choice>
    <mc:Fallback xmlns="">
      <p:transition spd="slow" advTm="2775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01 / DATASET SELECTION AND PREPROCESSING</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Preprocessing</a:t>
            </a:r>
            <a:endParaRPr lang="en-US" sz="2400" dirty="0"/>
          </a:p>
        </p:txBody>
      </p:sp>
      <p:sp>
        <p:nvSpPr>
          <p:cNvPr id="4" name="step0"/>
          <p:cNvSpPr/>
          <p:nvPr/>
        </p:nvSpPr>
        <p:spPr>
          <a:xfrm>
            <a:off x="685800" y="1783080"/>
            <a:ext cx="2464994" cy="2377440"/>
          </a:xfrm>
          <a:prstGeom prst="roundRect">
            <a:avLst>
              <a:gd name="adj" fmla="val 2308"/>
            </a:avLst>
          </a:prstGeom>
          <a:solidFill>
            <a:srgbClr val="EEF3F8"/>
          </a:solidFill>
          <a:ln w="9525">
            <a:solidFill>
              <a:srgbClr val="E4E7EC"/>
            </a:solidFill>
            <a:prstDash val="solid"/>
          </a:ln>
        </p:spPr>
        <p:txBody>
          <a:bodyPr/>
          <a:lstStyle/>
          <a:p>
            <a:endParaRPr lang="en-US"/>
          </a:p>
        </p:txBody>
      </p:sp>
      <p:sp>
        <p:nvSpPr>
          <p:cNvPr id="5" name="stepnum0"/>
          <p:cNvSpPr txBox="1"/>
          <p:nvPr/>
        </p:nvSpPr>
        <p:spPr>
          <a:xfrm>
            <a:off x="868680"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01</a:t>
            </a:r>
            <a:endParaRPr lang="en-US" sz="1100" dirty="0"/>
          </a:p>
        </p:txBody>
      </p:sp>
      <p:sp>
        <p:nvSpPr>
          <p:cNvPr id="6" name="steplabel0"/>
          <p:cNvSpPr txBox="1"/>
          <p:nvPr/>
        </p:nvSpPr>
        <p:spPr>
          <a:xfrm>
            <a:off x="1280160"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Data processing</a:t>
            </a:r>
            <a:endParaRPr lang="en-US" sz="1300" dirty="0"/>
          </a:p>
        </p:txBody>
      </p:sp>
      <p:sp>
        <p:nvSpPr>
          <p:cNvPr id="7" name="steptext0"/>
          <p:cNvSpPr txBox="1"/>
          <p:nvPr/>
        </p:nvSpPr>
        <p:spPr>
          <a:xfrm>
            <a:off x="868680" y="2423160"/>
            <a:ext cx="2099234" cy="1645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Unknown genre dropped (18 unmodified)</a:t>
            </a:r>
          </a:p>
          <a:p>
            <a:pPr marL="171450" indent="-171450">
              <a:buFont typeface="Arial" panose="020B0604020202020204" pitchFamily="34" charset="0"/>
              <a:buChar char="•"/>
            </a:pPr>
            <a:r>
              <a:rPr lang="en-US" sz="1050" dirty="0">
                <a:solidFill>
                  <a:srgbClr val="5C6672"/>
                </a:solidFill>
                <a:latin typeface="Arial" pitchFamily="34" charset="0"/>
                <a:cs typeface="Arial" pitchFamily="34" charset="-120"/>
              </a:rPr>
              <a:t>Missing release date has median value</a:t>
            </a:r>
            <a:endParaRPr lang="en-US" sz="1050" dirty="0"/>
          </a:p>
        </p:txBody>
      </p:sp>
      <p:sp>
        <p:nvSpPr>
          <p:cNvPr id="8" name="arrow0"/>
          <p:cNvSpPr txBox="1"/>
          <p:nvPr/>
        </p:nvSpPr>
        <p:spPr>
          <a:xfrm>
            <a:off x="3169082" y="2743200"/>
            <a:ext cx="292608" cy="365760"/>
          </a:xfrm>
          <a:prstGeom prst="rect">
            <a:avLst/>
          </a:prstGeom>
          <a:noFill/>
          <a:ln/>
        </p:spPr>
        <p:txBody>
          <a:bodyPr wrap="square" lIns="0" tIns="0" rIns="0" bIns="0" rtlCol="0" anchor="ctr"/>
          <a:lstStyle/>
          <a:p>
            <a:pPr marL="0" indent="0" algn="ctr">
              <a:buNone/>
            </a:pPr>
            <a:r>
              <a:rPr lang="en-US" sz="1600" dirty="0">
                <a:solidFill>
                  <a:srgbClr val="8A929C"/>
                </a:solidFill>
                <a:latin typeface="Arial" pitchFamily="34" charset="0"/>
                <a:ea typeface="Arial" pitchFamily="34" charset="-122"/>
                <a:cs typeface="Arial" pitchFamily="34" charset="-120"/>
              </a:rPr>
              <a:t>→</a:t>
            </a:r>
            <a:endParaRPr lang="en-US" sz="1600" dirty="0"/>
          </a:p>
        </p:txBody>
      </p:sp>
      <p:sp>
        <p:nvSpPr>
          <p:cNvPr id="9" name="step1"/>
          <p:cNvSpPr/>
          <p:nvPr/>
        </p:nvSpPr>
        <p:spPr>
          <a:xfrm>
            <a:off x="3470834" y="1783080"/>
            <a:ext cx="2464994" cy="2377440"/>
          </a:xfrm>
          <a:prstGeom prst="roundRect">
            <a:avLst>
              <a:gd name="adj" fmla="val 2308"/>
            </a:avLst>
          </a:prstGeom>
          <a:solidFill>
            <a:srgbClr val="FFFFFF"/>
          </a:solidFill>
          <a:ln w="9525">
            <a:solidFill>
              <a:srgbClr val="E4E7EC"/>
            </a:solidFill>
            <a:prstDash val="solid"/>
          </a:ln>
        </p:spPr>
        <p:txBody>
          <a:bodyPr/>
          <a:lstStyle/>
          <a:p>
            <a:endParaRPr lang="en-US"/>
          </a:p>
        </p:txBody>
      </p:sp>
      <p:sp>
        <p:nvSpPr>
          <p:cNvPr id="10" name="stepnum1"/>
          <p:cNvSpPr txBox="1"/>
          <p:nvPr/>
        </p:nvSpPr>
        <p:spPr>
          <a:xfrm>
            <a:off x="3653714"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02</a:t>
            </a:r>
            <a:endParaRPr lang="en-US" sz="1100" dirty="0"/>
          </a:p>
        </p:txBody>
      </p:sp>
      <p:sp>
        <p:nvSpPr>
          <p:cNvPr id="11" name="steplabel1"/>
          <p:cNvSpPr txBox="1"/>
          <p:nvPr/>
        </p:nvSpPr>
        <p:spPr>
          <a:xfrm>
            <a:off x="4065194"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Feature engineering</a:t>
            </a:r>
            <a:endParaRPr lang="en-US" sz="1300" dirty="0"/>
          </a:p>
        </p:txBody>
      </p:sp>
      <p:sp>
        <p:nvSpPr>
          <p:cNvPr id="12" name="steptext1"/>
          <p:cNvSpPr txBox="1"/>
          <p:nvPr/>
        </p:nvSpPr>
        <p:spPr>
          <a:xfrm>
            <a:off x="3653714" y="2423160"/>
            <a:ext cx="2099234" cy="1645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Age distributed over 7 buckets</a:t>
            </a: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21 occupations unmodified</a:t>
            </a:r>
          </a:p>
          <a:p>
            <a:pPr marL="171450" indent="-171450">
              <a:buFont typeface="Arial" panose="020B0604020202020204" pitchFamily="34" charset="0"/>
              <a:buChar char="•"/>
            </a:pPr>
            <a:r>
              <a:rPr lang="en-US" sz="1050" dirty="0">
                <a:solidFill>
                  <a:srgbClr val="5C6672"/>
                </a:solidFill>
                <a:latin typeface="Arial" pitchFamily="34" charset="0"/>
                <a:cs typeface="Arial" pitchFamily="34" charset="-120"/>
              </a:rPr>
              <a:t>Gender </a:t>
            </a:r>
            <a:r>
              <a:rPr lang="en-US" sz="1050" dirty="0">
                <a:solidFill>
                  <a:srgbClr val="5C6672"/>
                </a:solidFill>
                <a:latin typeface="Arial" pitchFamily="34" charset="0"/>
                <a:ea typeface="Arial" pitchFamily="34" charset="-122"/>
                <a:cs typeface="Arial" pitchFamily="34" charset="-120"/>
              </a:rPr>
              <a:t>unmodified</a:t>
            </a:r>
            <a:endParaRPr lang="en-US" sz="1050" dirty="0"/>
          </a:p>
        </p:txBody>
      </p:sp>
      <p:sp>
        <p:nvSpPr>
          <p:cNvPr id="13" name="arrow1"/>
          <p:cNvSpPr txBox="1"/>
          <p:nvPr/>
        </p:nvSpPr>
        <p:spPr>
          <a:xfrm>
            <a:off x="5954116" y="2743200"/>
            <a:ext cx="292608" cy="365760"/>
          </a:xfrm>
          <a:prstGeom prst="rect">
            <a:avLst/>
          </a:prstGeom>
          <a:noFill/>
          <a:ln/>
        </p:spPr>
        <p:txBody>
          <a:bodyPr wrap="square" lIns="0" tIns="0" rIns="0" bIns="0" rtlCol="0" anchor="ctr"/>
          <a:lstStyle/>
          <a:p>
            <a:pPr marL="0" indent="0" algn="ctr">
              <a:buNone/>
            </a:pPr>
            <a:r>
              <a:rPr lang="en-US" sz="1600" dirty="0">
                <a:solidFill>
                  <a:srgbClr val="8A929C"/>
                </a:solidFill>
                <a:latin typeface="Arial" pitchFamily="34" charset="0"/>
                <a:ea typeface="Arial" pitchFamily="34" charset="-122"/>
                <a:cs typeface="Arial" pitchFamily="34" charset="-120"/>
              </a:rPr>
              <a:t>→</a:t>
            </a:r>
            <a:endParaRPr lang="en-US" sz="1600" dirty="0"/>
          </a:p>
        </p:txBody>
      </p:sp>
      <p:sp>
        <p:nvSpPr>
          <p:cNvPr id="14" name="step2"/>
          <p:cNvSpPr/>
          <p:nvPr/>
        </p:nvSpPr>
        <p:spPr>
          <a:xfrm>
            <a:off x="6255868" y="1783080"/>
            <a:ext cx="2464994" cy="2377440"/>
          </a:xfrm>
          <a:prstGeom prst="roundRect">
            <a:avLst>
              <a:gd name="adj" fmla="val 2308"/>
            </a:avLst>
          </a:prstGeom>
          <a:solidFill>
            <a:srgbClr val="FFFFFF"/>
          </a:solidFill>
          <a:ln w="9525">
            <a:solidFill>
              <a:srgbClr val="E4E7EC"/>
            </a:solidFill>
            <a:prstDash val="solid"/>
          </a:ln>
        </p:spPr>
        <p:txBody>
          <a:bodyPr/>
          <a:lstStyle/>
          <a:p>
            <a:endParaRPr lang="en-US"/>
          </a:p>
        </p:txBody>
      </p:sp>
      <p:sp>
        <p:nvSpPr>
          <p:cNvPr id="15" name="stepnum2"/>
          <p:cNvSpPr txBox="1"/>
          <p:nvPr/>
        </p:nvSpPr>
        <p:spPr>
          <a:xfrm>
            <a:off x="6438748"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03</a:t>
            </a:r>
            <a:endParaRPr lang="en-US" sz="1100" dirty="0"/>
          </a:p>
        </p:txBody>
      </p:sp>
      <p:sp>
        <p:nvSpPr>
          <p:cNvPr id="16" name="steplabel2"/>
          <p:cNvSpPr txBox="1"/>
          <p:nvPr/>
        </p:nvSpPr>
        <p:spPr>
          <a:xfrm>
            <a:off x="6850228"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Side features</a:t>
            </a:r>
            <a:endParaRPr lang="en-US" sz="1300" dirty="0"/>
          </a:p>
        </p:txBody>
      </p:sp>
      <p:sp>
        <p:nvSpPr>
          <p:cNvPr id="17" name="steptext2"/>
          <p:cNvSpPr txBox="1"/>
          <p:nvPr/>
        </p:nvSpPr>
        <p:spPr>
          <a:xfrm>
            <a:off x="6438748" y="2423160"/>
            <a:ext cx="2099234" cy="1645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48 side features </a:t>
            </a:r>
          </a:p>
          <a:p>
            <a:pPr marL="628650" lvl="1"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Gender</a:t>
            </a:r>
          </a:p>
          <a:p>
            <a:pPr marL="628650" lvl="1"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Age </a:t>
            </a:r>
          </a:p>
          <a:p>
            <a:pPr marL="628650" lvl="1"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Occupation</a:t>
            </a:r>
          </a:p>
          <a:p>
            <a:pPr marL="628650" lvl="1"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Genres </a:t>
            </a:r>
          </a:p>
          <a:p>
            <a:pPr marL="628650" lvl="1"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Year </a:t>
            </a:r>
            <a:endParaRPr lang="en-US" sz="1050" dirty="0"/>
          </a:p>
        </p:txBody>
      </p:sp>
      <p:sp>
        <p:nvSpPr>
          <p:cNvPr id="18" name="arrow2"/>
          <p:cNvSpPr txBox="1"/>
          <p:nvPr/>
        </p:nvSpPr>
        <p:spPr>
          <a:xfrm>
            <a:off x="8739149" y="2743200"/>
            <a:ext cx="292608" cy="365760"/>
          </a:xfrm>
          <a:prstGeom prst="rect">
            <a:avLst/>
          </a:prstGeom>
          <a:noFill/>
          <a:ln/>
        </p:spPr>
        <p:txBody>
          <a:bodyPr wrap="square" lIns="0" tIns="0" rIns="0" bIns="0" rtlCol="0" anchor="ctr"/>
          <a:lstStyle/>
          <a:p>
            <a:pPr marL="0" indent="0" algn="ctr">
              <a:buNone/>
            </a:pPr>
            <a:r>
              <a:rPr lang="en-US" sz="1600" dirty="0">
                <a:solidFill>
                  <a:srgbClr val="8A929C"/>
                </a:solidFill>
                <a:latin typeface="Arial" pitchFamily="34" charset="0"/>
                <a:ea typeface="Arial" pitchFamily="34" charset="-122"/>
                <a:cs typeface="Arial" pitchFamily="34" charset="-120"/>
              </a:rPr>
              <a:t>→</a:t>
            </a:r>
            <a:endParaRPr lang="en-US" sz="1600" dirty="0"/>
          </a:p>
        </p:txBody>
      </p:sp>
      <p:sp>
        <p:nvSpPr>
          <p:cNvPr id="19" name="step3"/>
          <p:cNvSpPr/>
          <p:nvPr/>
        </p:nvSpPr>
        <p:spPr>
          <a:xfrm>
            <a:off x="9040901" y="1783080"/>
            <a:ext cx="2464994" cy="2377440"/>
          </a:xfrm>
          <a:prstGeom prst="roundRect">
            <a:avLst>
              <a:gd name="adj" fmla="val 2308"/>
            </a:avLst>
          </a:prstGeom>
          <a:solidFill>
            <a:srgbClr val="FFFFFF"/>
          </a:solidFill>
          <a:ln w="9525">
            <a:solidFill>
              <a:srgbClr val="E4E7EC"/>
            </a:solidFill>
            <a:prstDash val="solid"/>
          </a:ln>
        </p:spPr>
        <p:txBody>
          <a:bodyPr/>
          <a:lstStyle/>
          <a:p>
            <a:endParaRPr lang="en-US"/>
          </a:p>
        </p:txBody>
      </p:sp>
      <p:sp>
        <p:nvSpPr>
          <p:cNvPr id="20" name="stepnum3"/>
          <p:cNvSpPr txBox="1"/>
          <p:nvPr/>
        </p:nvSpPr>
        <p:spPr>
          <a:xfrm>
            <a:off x="9223781"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04</a:t>
            </a:r>
            <a:endParaRPr lang="en-US" sz="1100" dirty="0"/>
          </a:p>
        </p:txBody>
      </p:sp>
      <p:sp>
        <p:nvSpPr>
          <p:cNvPr id="21" name="steplabel3"/>
          <p:cNvSpPr txBox="1"/>
          <p:nvPr/>
        </p:nvSpPr>
        <p:spPr>
          <a:xfrm>
            <a:off x="9635261"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Five folds</a:t>
            </a:r>
            <a:endParaRPr lang="en-US" sz="1300" dirty="0"/>
          </a:p>
        </p:txBody>
      </p:sp>
      <p:sp>
        <p:nvSpPr>
          <p:cNvPr id="22" name="steptext3"/>
          <p:cNvSpPr txBox="1"/>
          <p:nvPr/>
        </p:nvSpPr>
        <p:spPr>
          <a:xfrm>
            <a:off x="9223781" y="2423160"/>
            <a:ext cx="2099234" cy="1645920"/>
          </a:xfrm>
          <a:prstGeom prst="rect">
            <a:avLst/>
          </a:prstGeom>
          <a:noFill/>
          <a:ln/>
        </p:spPr>
        <p:txBody>
          <a:bodyPr wrap="square" lIns="0" tIns="0" rIns="0" bIns="0" rtlCol="0" anchor="t"/>
          <a:lstStyle/>
          <a:p>
            <a:pPr marL="0" indent="0">
              <a:buNone/>
            </a:pPr>
            <a:r>
              <a:rPr lang="en-US" sz="1050" dirty="0">
                <a:solidFill>
                  <a:srgbClr val="5C6672"/>
                </a:solidFill>
                <a:latin typeface="Arial" pitchFamily="34" charset="0"/>
                <a:ea typeface="Arial" pitchFamily="34" charset="-122"/>
                <a:cs typeface="Arial" pitchFamily="34" charset="-120"/>
              </a:rPr>
              <a:t>The dataset is split into five folds, 80% for training and 20% for testing. More on this later</a:t>
            </a:r>
            <a:endParaRPr lang="en-US" sz="10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41463"/>
    </mc:Choice>
    <mc:Fallback xmlns="">
      <p:transition spd="slow" advTm="4146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02 / MODEL DESIGN: CLASSICAL ML VS DL</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Model selection (I): filtering strategies</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3441567565"/>
              </p:ext>
            </p:extLst>
          </p:nvPr>
        </p:nvGraphicFramePr>
        <p:xfrm>
          <a:off x="685800" y="1783080"/>
          <a:ext cx="6949440" cy="2185416"/>
        </p:xfrm>
        <a:graphic>
          <a:graphicData uri="http://schemas.openxmlformats.org/drawingml/2006/table">
            <a:tbl>
              <a:tblPr/>
              <a:tblGrid>
                <a:gridCol w="1463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02920">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Strategy</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Idea</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Drawback</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extLst>
                  <a:ext uri="{0D108BD9-81ED-4DB2-BD59-A6C34878D82A}">
                    <a16:rowId xmlns:a16="http://schemas.microsoft.com/office/drawing/2014/main" val="10000"/>
                  </a:ext>
                </a:extLst>
              </a:tr>
              <a:tr h="502920">
                <a:tc>
                  <a:txBody>
                    <a:bodyPr/>
                    <a:lstStyle/>
                    <a:p>
                      <a:pPr marL="0" indent="0">
                        <a:buNone/>
                      </a:pPr>
                      <a:r>
                        <a:rPr lang="en-US" sz="1050" b="1" dirty="0">
                          <a:solidFill>
                            <a:srgbClr val="141920"/>
                          </a:solidFill>
                          <a:latin typeface="Arial" pitchFamily="34" charset="0"/>
                          <a:ea typeface="Arial" pitchFamily="34" charset="-122"/>
                          <a:cs typeface="Arial" pitchFamily="34" charset="-120"/>
                        </a:rPr>
                        <a:t>Collaborative</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Viewers who rated the same movies similarly share interests (Zhang et al., 2020)</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050" dirty="0">
                          <a:solidFill>
                            <a:srgbClr val="33404E"/>
                          </a:solidFill>
                          <a:latin typeface="Arial" pitchFamily="34" charset="0"/>
                          <a:ea typeface="Arial" pitchFamily="34" charset="-122"/>
                          <a:cs typeface="Arial" pitchFamily="34" charset="-120"/>
                        </a:rPr>
                        <a:t>Cold start</a:t>
                      </a:r>
                    </a:p>
                    <a:p>
                      <a:pPr marL="171450" indent="-171450">
                        <a:buFont typeface="Arial" panose="020B0604020202020204" pitchFamily="34" charset="0"/>
                        <a:buChar char="•"/>
                      </a:pPr>
                      <a:r>
                        <a:rPr lang="en-US" sz="1050" dirty="0">
                          <a:solidFill>
                            <a:srgbClr val="33404E"/>
                          </a:solidFill>
                          <a:latin typeface="Arial" pitchFamily="34" charset="0"/>
                          <a:ea typeface="Arial" pitchFamily="34" charset="-122"/>
                          <a:cs typeface="Arial" pitchFamily="34" charset="-120"/>
                        </a:rPr>
                        <a:t>Computing grows with viewers × movies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050" b="1" dirty="0">
                          <a:solidFill>
                            <a:srgbClr val="141920"/>
                          </a:solidFill>
                          <a:latin typeface="Arial" pitchFamily="34" charset="0"/>
                          <a:ea typeface="Arial" pitchFamily="34" charset="-122"/>
                          <a:cs typeface="Arial" pitchFamily="34" charset="-120"/>
                        </a:rPr>
                        <a:t>Content-based</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The content of the movie, for instance the genre, rather than behaviour</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050" dirty="0">
                          <a:solidFill>
                            <a:srgbClr val="33404E"/>
                          </a:solidFill>
                          <a:latin typeface="Arial" pitchFamily="34" charset="0"/>
                          <a:ea typeface="Arial" pitchFamily="34" charset="-122"/>
                          <a:cs typeface="Arial" pitchFamily="34" charset="-120"/>
                        </a:rPr>
                        <a:t>the viewer cannot discover new areas outside her profile (Idrissi and Zellou, 2020)</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050" b="1" dirty="0">
                          <a:solidFill>
                            <a:srgbClr val="141920"/>
                          </a:solidFill>
                          <a:latin typeface="Arial" pitchFamily="34" charset="0"/>
                          <a:ea typeface="Arial" pitchFamily="34" charset="-122"/>
                          <a:cs typeface="Arial" pitchFamily="34" charset="-120"/>
                        </a:rPr>
                        <a:t>Hybrid</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Combines strategies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050" dirty="0">
                          <a:solidFill>
                            <a:srgbClr val="33404E"/>
                          </a:solidFill>
                          <a:latin typeface="Arial" pitchFamily="34" charset="0"/>
                          <a:ea typeface="Arial" pitchFamily="34" charset="-122"/>
                          <a:cs typeface="Arial" pitchFamily="34" charset="-120"/>
                        </a:rPr>
                        <a:t>Discussed in deployment</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7955280" y="1783080"/>
            <a:ext cx="3550615" cy="416052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Content features are scarce and none has a significant effect, so collaborative is preferred</a:t>
            </a:r>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Sparsity hurts accuracy, coverage, scalability and transparency (Idrissi and Zellou, 2020; Gunathilaka et al., 2025)</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Matrix factorisation estimates ratings from sparse data (Gunathilaka et al., 2025)</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I use the biased version (Koren et al., 2009), the Netflix Prize winners. The library calls it SVD</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05503"/>
    </mc:Choice>
    <mc:Fallback xmlns="">
      <p:transition spd="slow" advTm="10550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02 / MODEL DESIGN: CLASSICAL ML VS DL</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Model selection (II): why a deep model, and which one</a:t>
            </a:r>
            <a:endParaRPr lang="en-US" sz="2400" dirty="0"/>
          </a:p>
        </p:txBody>
      </p:sp>
      <p:sp>
        <p:nvSpPr>
          <p:cNvPr id="4" name="col0"/>
          <p:cNvSpPr/>
          <p:nvPr/>
        </p:nvSpPr>
        <p:spPr>
          <a:xfrm>
            <a:off x="685800" y="1783080"/>
            <a:ext cx="3423818" cy="4160520"/>
          </a:xfrm>
          <a:prstGeom prst="roundRect">
            <a:avLst>
              <a:gd name="adj" fmla="val 1602"/>
            </a:avLst>
          </a:prstGeom>
          <a:solidFill>
            <a:srgbClr val="FFFFFF"/>
          </a:solidFill>
          <a:ln w="9525">
            <a:solidFill>
              <a:srgbClr val="E4E7EC"/>
            </a:solidFill>
            <a:prstDash val="solid"/>
          </a:ln>
        </p:spPr>
        <p:txBody>
          <a:bodyPr/>
          <a:lstStyle/>
          <a:p>
            <a:endParaRPr lang="en-US"/>
          </a:p>
        </p:txBody>
      </p:sp>
      <p:sp>
        <p:nvSpPr>
          <p:cNvPr id="5" name="num0"/>
          <p:cNvSpPr txBox="1"/>
          <p:nvPr/>
        </p:nvSpPr>
        <p:spPr>
          <a:xfrm>
            <a:off x="914400" y="201168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01</a:t>
            </a:r>
            <a:endParaRPr lang="en-US" sz="1100" dirty="0"/>
          </a:p>
        </p:txBody>
      </p:sp>
      <p:sp>
        <p:nvSpPr>
          <p:cNvPr id="6" name="head0"/>
          <p:cNvSpPr txBox="1"/>
          <p:nvPr/>
        </p:nvSpPr>
        <p:spPr>
          <a:xfrm>
            <a:off x="1371600" y="1965960"/>
            <a:ext cx="2509418" cy="411480"/>
          </a:xfrm>
          <a:prstGeom prst="rect">
            <a:avLst/>
          </a:prstGeom>
          <a:noFill/>
          <a:ln/>
        </p:spPr>
        <p:txBody>
          <a:bodyPr wrap="square" lIns="0" tIns="0" rIns="0" bIns="0" rtlCol="0" anchor="ctr"/>
          <a:lstStyle/>
          <a:p>
            <a:pPr marL="0" indent="0">
              <a:buNone/>
            </a:pPr>
            <a:r>
              <a:rPr lang="en-US" sz="1400" b="1" dirty="0">
                <a:solidFill>
                  <a:srgbClr val="141920"/>
                </a:solidFill>
                <a:latin typeface="Arial" pitchFamily="34" charset="0"/>
                <a:ea typeface="Arial" pitchFamily="34" charset="-122"/>
                <a:cs typeface="Arial" pitchFamily="34" charset="-120"/>
              </a:rPr>
              <a:t>Limit of biased MF</a:t>
            </a:r>
            <a:endParaRPr lang="en-US" sz="1400" dirty="0"/>
          </a:p>
        </p:txBody>
      </p:sp>
      <p:sp>
        <p:nvSpPr>
          <p:cNvPr id="7" name="Text 5"/>
          <p:cNvSpPr txBox="1"/>
          <p:nvPr/>
        </p:nvSpPr>
        <p:spPr>
          <a:xfrm>
            <a:off x="914400" y="2514600"/>
            <a:ext cx="2966618" cy="324612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The prediction is a dot product: linear relationships only</a:t>
            </a:r>
            <a:endParaRPr lang="en-US" sz="1150" dirty="0"/>
          </a:p>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Deep learning can learn more, including non-linear effects and side features (Gunathilaka et al., 2025)</a:t>
            </a:r>
            <a:endParaRPr lang="en-US" sz="1150" dirty="0"/>
          </a:p>
        </p:txBody>
      </p:sp>
      <p:sp>
        <p:nvSpPr>
          <p:cNvPr id="8" name="col1"/>
          <p:cNvSpPr/>
          <p:nvPr/>
        </p:nvSpPr>
        <p:spPr>
          <a:xfrm>
            <a:off x="4383938" y="1783080"/>
            <a:ext cx="3423818" cy="4160520"/>
          </a:xfrm>
          <a:prstGeom prst="roundRect">
            <a:avLst>
              <a:gd name="adj" fmla="val 1602"/>
            </a:avLst>
          </a:prstGeom>
          <a:solidFill>
            <a:srgbClr val="FFFFFF"/>
          </a:solidFill>
          <a:ln w="9525">
            <a:solidFill>
              <a:srgbClr val="E4E7EC"/>
            </a:solidFill>
            <a:prstDash val="solid"/>
          </a:ln>
        </p:spPr>
        <p:txBody>
          <a:bodyPr/>
          <a:lstStyle/>
          <a:p>
            <a:endParaRPr lang="en-US"/>
          </a:p>
        </p:txBody>
      </p:sp>
      <p:sp>
        <p:nvSpPr>
          <p:cNvPr id="9" name="num1"/>
          <p:cNvSpPr txBox="1"/>
          <p:nvPr/>
        </p:nvSpPr>
        <p:spPr>
          <a:xfrm>
            <a:off x="4612538" y="201168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02</a:t>
            </a:r>
            <a:endParaRPr lang="en-US" sz="1100" dirty="0"/>
          </a:p>
        </p:txBody>
      </p:sp>
      <p:sp>
        <p:nvSpPr>
          <p:cNvPr id="10" name="head1"/>
          <p:cNvSpPr txBox="1"/>
          <p:nvPr/>
        </p:nvSpPr>
        <p:spPr>
          <a:xfrm>
            <a:off x="5069738" y="1965960"/>
            <a:ext cx="2509418" cy="411480"/>
          </a:xfrm>
          <a:prstGeom prst="rect">
            <a:avLst/>
          </a:prstGeom>
          <a:noFill/>
          <a:ln/>
        </p:spPr>
        <p:txBody>
          <a:bodyPr wrap="square" lIns="0" tIns="0" rIns="0" bIns="0" rtlCol="0" anchor="ctr"/>
          <a:lstStyle/>
          <a:p>
            <a:pPr marL="0" indent="0">
              <a:buNone/>
            </a:pPr>
            <a:r>
              <a:rPr lang="en-US" sz="1400" b="1" dirty="0">
                <a:solidFill>
                  <a:srgbClr val="141920"/>
                </a:solidFill>
                <a:latin typeface="Arial" pitchFamily="34" charset="0"/>
                <a:ea typeface="Arial" pitchFamily="34" charset="-122"/>
                <a:cs typeface="Arial" pitchFamily="34" charset="-120"/>
              </a:rPr>
              <a:t>The choice: NeuMF (He et al., 2017)</a:t>
            </a:r>
            <a:endParaRPr lang="en-US" sz="1400" dirty="0"/>
          </a:p>
        </p:txBody>
      </p:sp>
      <p:sp>
        <p:nvSpPr>
          <p:cNvPr id="11" name="Text 9"/>
          <p:cNvSpPr txBox="1"/>
          <p:nvPr/>
        </p:nvSpPr>
        <p:spPr>
          <a:xfrm>
            <a:off x="4612538" y="2514600"/>
            <a:ext cx="2966618" cy="324612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The survey by Zhang et al. (2019) classifies neural collaborative filtering as a representative model</a:t>
            </a:r>
            <a:endParaRPr lang="en-US" sz="1150" dirty="0"/>
          </a:p>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A network between viewer and film instead of a dot product, it additionally learns side features and non-linear relationships</a:t>
            </a:r>
            <a:endParaRPr lang="en-US" sz="1150" dirty="0"/>
          </a:p>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An excellent comparison to traditional MF</a:t>
            </a:r>
            <a:endParaRPr lang="en-US" sz="1150" dirty="0"/>
          </a:p>
        </p:txBody>
      </p:sp>
      <p:sp>
        <p:nvSpPr>
          <p:cNvPr id="12" name="col2"/>
          <p:cNvSpPr/>
          <p:nvPr/>
        </p:nvSpPr>
        <p:spPr>
          <a:xfrm>
            <a:off x="8082077" y="1783080"/>
            <a:ext cx="3423818" cy="4160520"/>
          </a:xfrm>
          <a:prstGeom prst="roundRect">
            <a:avLst>
              <a:gd name="adj" fmla="val 1602"/>
            </a:avLst>
          </a:prstGeom>
          <a:solidFill>
            <a:srgbClr val="FFFFFF"/>
          </a:solidFill>
          <a:ln w="9525">
            <a:solidFill>
              <a:srgbClr val="E4E7EC"/>
            </a:solidFill>
            <a:prstDash val="solid"/>
          </a:ln>
        </p:spPr>
        <p:txBody>
          <a:bodyPr/>
          <a:lstStyle/>
          <a:p>
            <a:endParaRPr lang="en-US"/>
          </a:p>
        </p:txBody>
      </p:sp>
      <p:sp>
        <p:nvSpPr>
          <p:cNvPr id="13" name="num2"/>
          <p:cNvSpPr txBox="1"/>
          <p:nvPr/>
        </p:nvSpPr>
        <p:spPr>
          <a:xfrm>
            <a:off x="8310677" y="201168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03</a:t>
            </a:r>
            <a:endParaRPr lang="en-US" sz="1100" dirty="0"/>
          </a:p>
        </p:txBody>
      </p:sp>
      <p:sp>
        <p:nvSpPr>
          <p:cNvPr id="14" name="head2"/>
          <p:cNvSpPr txBox="1"/>
          <p:nvPr/>
        </p:nvSpPr>
        <p:spPr>
          <a:xfrm>
            <a:off x="8767877" y="1965960"/>
            <a:ext cx="2509418" cy="411480"/>
          </a:xfrm>
          <a:prstGeom prst="rect">
            <a:avLst/>
          </a:prstGeom>
          <a:noFill/>
          <a:ln/>
        </p:spPr>
        <p:txBody>
          <a:bodyPr wrap="square" lIns="0" tIns="0" rIns="0" bIns="0" rtlCol="0" anchor="ctr"/>
          <a:lstStyle/>
          <a:p>
            <a:pPr marL="0" indent="0">
              <a:buNone/>
            </a:pPr>
            <a:r>
              <a:rPr lang="en-US" sz="1400" b="1" dirty="0">
                <a:solidFill>
                  <a:srgbClr val="141920"/>
                </a:solidFill>
                <a:latin typeface="Arial" pitchFamily="34" charset="0"/>
                <a:ea typeface="Arial" pitchFamily="34" charset="-122"/>
                <a:cs typeface="Arial" pitchFamily="34" charset="-120"/>
              </a:rPr>
              <a:t>Disadvantages of deep learning</a:t>
            </a:r>
            <a:endParaRPr lang="en-US" sz="1400" dirty="0"/>
          </a:p>
        </p:txBody>
      </p:sp>
      <p:sp>
        <p:nvSpPr>
          <p:cNvPr id="15" name="Text 13"/>
          <p:cNvSpPr txBox="1"/>
          <p:nvPr/>
        </p:nvSpPr>
        <p:spPr>
          <a:xfrm>
            <a:off x="8310677" y="2514600"/>
            <a:ext cx="2966618" cy="324612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A black box</a:t>
            </a:r>
            <a:endParaRPr lang="en-US" sz="1150" dirty="0"/>
          </a:p>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Needs a huge volume of data</a:t>
            </a:r>
            <a:endParaRPr lang="en-US" sz="1150" dirty="0"/>
          </a:p>
          <a:p>
            <a:pPr marL="152400" indent="-152400">
              <a:spcAft>
                <a:spcPts val="600"/>
              </a:spcAft>
              <a:buSzPct val="100000"/>
              <a:buChar char="•"/>
            </a:pPr>
            <a:r>
              <a:rPr lang="en-US" sz="1150" dirty="0">
                <a:solidFill>
                  <a:srgbClr val="5C6672"/>
                </a:solidFill>
                <a:latin typeface="Arial" pitchFamily="34" charset="0"/>
                <a:ea typeface="Arial" pitchFamily="34" charset="-122"/>
                <a:cs typeface="Arial" pitchFamily="34" charset="-120"/>
              </a:rPr>
              <a:t>More complexity overall</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76182"/>
    </mc:Choice>
    <mc:Fallback xmlns="">
      <p:transition spd="slow" advTm="7618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02 / MODEL DESIGN: CLASSICAL ML VS DL</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Model design</a:t>
            </a:r>
            <a:endParaRPr lang="en-US" sz="2400" dirty="0"/>
          </a:p>
        </p:txBody>
      </p:sp>
      <p:pic>
        <p:nvPicPr>
          <p:cNvPr id="4" name="figure" descr="/tmp/claude-0/-home-claude/3abe6651-2ee8-53d0-a65b-59a0396ea4df/scratchpad/repos/MovieRecommender/reports/shared/figures/diagram_models_simple.png"/>
          <p:cNvPicPr>
            <a:picLocks noChangeAspect="1"/>
          </p:cNvPicPr>
          <p:nvPr/>
        </p:nvPicPr>
        <p:blipFill>
          <a:blip r:embed="rId3"/>
          <a:stretch>
            <a:fillRect/>
          </a:stretch>
        </p:blipFill>
        <p:spPr>
          <a:xfrm>
            <a:off x="729823" y="1783080"/>
            <a:ext cx="6861395" cy="4069080"/>
          </a:xfrm>
          <a:prstGeom prst="rect">
            <a:avLst/>
          </a:prstGeom>
        </p:spPr>
      </p:pic>
      <p:sp>
        <p:nvSpPr>
          <p:cNvPr id="5" name="Text 2"/>
          <p:cNvSpPr txBox="1"/>
          <p:nvPr/>
        </p:nvSpPr>
        <p:spPr>
          <a:xfrm>
            <a:off x="961093" y="5943600"/>
            <a:ext cx="3550615" cy="274320"/>
          </a:xfrm>
          <a:prstGeom prst="rect">
            <a:avLst/>
          </a:prstGeom>
          <a:noFill/>
          <a:ln/>
        </p:spPr>
        <p:txBody>
          <a:bodyPr wrap="square" lIns="0" tIns="0" rIns="0" bIns="0" rtlCol="0" anchor="t"/>
          <a:lstStyle/>
          <a:p>
            <a:pPr>
              <a:spcAft>
                <a:spcPts val="700"/>
              </a:spcAft>
              <a:buSzPct val="100000"/>
            </a:pPr>
            <a:r>
              <a:rPr lang="en-US" sz="1150" dirty="0">
                <a:solidFill>
                  <a:srgbClr val="33404E"/>
                </a:solidFill>
                <a:latin typeface="Arial" pitchFamily="34" charset="0"/>
                <a:ea typeface="Arial" pitchFamily="34" charset="-122"/>
                <a:cs typeface="Arial" pitchFamily="34" charset="-120"/>
              </a:rPr>
              <a:t>Koren et al. (2009) and He et al. (2017)</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61236"/>
    </mc:Choice>
    <mc:Fallback xmlns="">
      <p:transition spd="slow" advTm="6123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03 / EVALUATION METRICS AND VALIDATION STRATEGY</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Results</a:t>
            </a:r>
            <a:endParaRPr lang="en-US" sz="2400" dirty="0"/>
          </a:p>
        </p:txBody>
      </p:sp>
      <p:graphicFrame>
        <p:nvGraphicFramePr>
          <p:cNvPr id="4" name="Chart 0"/>
          <p:cNvGraphicFramePr/>
          <p:nvPr/>
        </p:nvGraphicFramePr>
        <p:xfrm>
          <a:off x="685800" y="1783080"/>
          <a:ext cx="676656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818120" y="1783080"/>
            <a:ext cx="3687775" cy="4160520"/>
          </a:xfrm>
          <a:prstGeom prst="rect">
            <a:avLst/>
          </a:prstGeom>
          <a:noFill/>
          <a:ln/>
        </p:spPr>
        <p:txBody>
          <a:bodyPr wrap="square" lIns="0" tIns="0" rIns="0" bIns="0" rtlCol="0" anchor="t"/>
          <a:lstStyle/>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RMSE: </a:t>
            </a:r>
            <a:r>
              <a:rPr lang="en-US" sz="1150" dirty="0">
                <a:solidFill>
                  <a:srgbClr val="33404E"/>
                </a:solidFill>
                <a:latin typeface="Arial" pitchFamily="34" charset="0"/>
                <a:ea typeface="Arial" pitchFamily="34" charset="-122"/>
                <a:cs typeface="Arial" pitchFamily="34" charset="-120"/>
              </a:rPr>
              <a:t>0.912 vs 0.914: difference 0.002, fold to fold variation 0.008. Paired t-test p = 0.10: equally accurate</a:t>
            </a:r>
            <a:endParaRPr lang="en-US" sz="1150" dirty="0"/>
          </a:p>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NDCG: </a:t>
            </a:r>
            <a:r>
              <a:rPr lang="en-US" sz="1150" dirty="0">
                <a:solidFill>
                  <a:srgbClr val="33404E"/>
                </a:solidFill>
                <a:latin typeface="Arial" pitchFamily="34" charset="0"/>
                <a:ea typeface="Arial" pitchFamily="34" charset="-122"/>
                <a:cs typeface="Arial" pitchFamily="34" charset="-120"/>
              </a:rPr>
              <a:t>0.913 vs 0.911: the deep learning layers are not more accurate</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38237"/>
    </mc:Choice>
    <mc:Fallback xmlns="">
      <p:transition spd="slow" advTm="13823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03 / EVALUATION METRICS AND VALIDATION STRATEGY</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Evaluation metrics and overfitting</a:t>
            </a:r>
            <a:endParaRPr lang="en-US" sz="2400" dirty="0"/>
          </a:p>
        </p:txBody>
      </p:sp>
      <p:pic>
        <p:nvPicPr>
          <p:cNvPr id="4" name="figure" descr="/tmp/claude-0/-home-claude/3abe6651-2ee8-53d0-a65b-59a0396ea4df/scratchpad/repos/MovieRecommender/reports/presentation/training_curves.png"/>
          <p:cNvPicPr>
            <a:picLocks noChangeAspect="1"/>
          </p:cNvPicPr>
          <p:nvPr/>
        </p:nvPicPr>
        <p:blipFill>
          <a:blip r:embed="rId3"/>
          <a:stretch>
            <a:fillRect/>
          </a:stretch>
        </p:blipFill>
        <p:spPr>
          <a:xfrm>
            <a:off x="685800" y="2717292"/>
            <a:ext cx="6949440" cy="2200656"/>
          </a:xfrm>
          <a:prstGeom prst="rect">
            <a:avLst/>
          </a:prstGeom>
        </p:spPr>
      </p:pic>
      <p:sp>
        <p:nvSpPr>
          <p:cNvPr id="5" name="Text 2"/>
          <p:cNvSpPr txBox="1"/>
          <p:nvPr/>
        </p:nvSpPr>
        <p:spPr>
          <a:xfrm>
            <a:off x="7955280" y="2801566"/>
            <a:ext cx="3550615" cy="3142034"/>
          </a:xfrm>
          <a:prstGeom prst="rect">
            <a:avLst/>
          </a:prstGeom>
          <a:noFill/>
          <a:ln/>
        </p:spPr>
        <p:txBody>
          <a:bodyPr wrap="square" lIns="0" tIns="0" rIns="0" bIns="0" rtlCol="0" anchor="t"/>
          <a:lstStyle/>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Folding strategy</a:t>
            </a:r>
            <a:r>
              <a:rPr lang="en-US" sz="1150" dirty="0">
                <a:solidFill>
                  <a:srgbClr val="33404E"/>
                </a:solidFill>
                <a:latin typeface="Arial" pitchFamily="34" charset="0"/>
                <a:ea typeface="Arial" pitchFamily="34" charset="-122"/>
                <a:cs typeface="Arial" pitchFamily="34" charset="-120"/>
              </a:rPr>
              <a:t>: trained and tested five times, average over the test parts, so no dependence on one lucky split. Hyperparameters chosen on the training part</a:t>
            </a:r>
            <a:endParaRPr lang="en-US" sz="1150" dirty="0"/>
          </a:p>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Biased MF</a:t>
            </a:r>
            <a:r>
              <a:rPr lang="en-US" sz="1150" dirty="0">
                <a:solidFill>
                  <a:srgbClr val="33404E"/>
                </a:solidFill>
                <a:latin typeface="Arial" pitchFamily="34" charset="0"/>
                <a:ea typeface="Arial" pitchFamily="34" charset="-122"/>
                <a:cs typeface="Arial" pitchFamily="34" charset="-120"/>
              </a:rPr>
              <a:t>: training error 0.69, test error 0.93. The gap suggests overfitting</a:t>
            </a:r>
            <a:endParaRPr lang="en-US" sz="1150" dirty="0"/>
          </a:p>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NeuMF</a:t>
            </a:r>
            <a:r>
              <a:rPr lang="en-US" sz="1150" dirty="0">
                <a:solidFill>
                  <a:srgbClr val="33404E"/>
                </a:solidFill>
                <a:latin typeface="Arial" pitchFamily="34" charset="0"/>
                <a:ea typeface="Arial" pitchFamily="34" charset="-122"/>
                <a:cs typeface="Arial" pitchFamily="34" charset="-120"/>
              </a:rPr>
              <a:t>: training error keeps improving, validation error stops improving after 3 to 4 epochs. Early stopping keeps the best weights</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The folds make overfitting visible</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98296"/>
    </mc:Choice>
    <mc:Fallback xmlns="">
      <p:transition spd="slow" advTm="9829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02 / MODEL DESIGN: CLASSICAL ML VS DL</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Hyperparameters and grid search</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087350756"/>
              </p:ext>
            </p:extLst>
          </p:nvPr>
        </p:nvGraphicFramePr>
        <p:xfrm>
          <a:off x="685800" y="1783080"/>
          <a:ext cx="6949440" cy="2688336"/>
        </p:xfrm>
        <a:graphic>
          <a:graphicData uri="http://schemas.openxmlformats.org/drawingml/2006/table">
            <a:tbl>
              <a:tblPr/>
              <a:tblGrid>
                <a:gridCol w="18288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84048">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Hyperparameter</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What it does</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Chosen</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λ regularisation</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Penalty on large vector numbers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0.1</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factors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charset="0"/>
                          <a:cs typeface="Arial" pitchFamily="34" charset="-120"/>
                        </a:rPr>
                        <a:t>How many numbers are included in the vector (length)</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epochs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passes over the training ratings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40</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learning rate</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step size per update</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0.01</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NeuMF embedding size</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See factors, the length of the vectors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32</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NeuMF dropout</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share of network units switched off per step so it relies less on a few</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0.2</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7955280" y="1783080"/>
            <a:ext cx="3550615" cy="416052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Grid search on the training fold 1</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Lambda was the only significant hyperparameter: error 0.966 → 0.931 for λ 0.02 → 0.1</a:t>
            </a:r>
            <a:endParaRPr lang="en-US" sz="1150" dirty="0"/>
          </a:p>
          <a:p>
            <a:pPr marL="152400" indent="-152400">
              <a:spcAft>
                <a:spcPts val="700"/>
              </a:spcAft>
              <a:buSzPct val="100000"/>
              <a:buChar char="•"/>
            </a:pPr>
            <a:r>
              <a:rPr lang="en-US" sz="1150" dirty="0" err="1">
                <a:solidFill>
                  <a:srgbClr val="33404E"/>
                </a:solidFill>
                <a:latin typeface="Arial" pitchFamily="34" charset="0"/>
                <a:ea typeface="Arial" pitchFamily="34" charset="-122"/>
                <a:cs typeface="Arial" pitchFamily="34" charset="-120"/>
              </a:rPr>
              <a:t>NeuMF</a:t>
            </a:r>
            <a:r>
              <a:rPr lang="en-US" sz="1150" dirty="0">
                <a:solidFill>
                  <a:srgbClr val="33404E"/>
                </a:solidFill>
                <a:latin typeface="Arial" pitchFamily="34" charset="0"/>
                <a:ea typeface="Arial" pitchFamily="34" charset="-122"/>
                <a:cs typeface="Arial" pitchFamily="34" charset="-120"/>
              </a:rPr>
              <a:t> settings varied slightly, followed 32 and 0.2 as in He et al. (2017)</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30685"/>
    </mc:Choice>
    <mc:Fallback xmlns="">
      <p:transition spd="slow" advTm="13068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04 / EXPLAINABILITY FINDINGS</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Explainability: SHAP</a:t>
            </a:r>
            <a:endParaRPr lang="en-US" sz="2400" dirty="0"/>
          </a:p>
        </p:txBody>
      </p:sp>
      <p:sp>
        <p:nvSpPr>
          <p:cNvPr id="5" name="Text 2"/>
          <p:cNvSpPr txBox="1"/>
          <p:nvPr/>
        </p:nvSpPr>
        <p:spPr>
          <a:xfrm>
            <a:off x="7955280" y="1783080"/>
            <a:ext cx="3550615" cy="3460129"/>
          </a:xfrm>
          <a:prstGeom prst="rect">
            <a:avLst/>
          </a:prstGeom>
          <a:noFill/>
          <a:ln/>
        </p:spPr>
        <p:txBody>
          <a:bodyPr wrap="square" lIns="0" tIns="0" rIns="0" bIns="0" rtlCol="0" anchor="t"/>
          <a:lstStyle/>
          <a:p>
            <a:pPr marL="152400" indent="-152400">
              <a:spcAft>
                <a:spcPts val="700"/>
              </a:spcAft>
              <a:buSzPct val="100000"/>
              <a:buFontTx/>
              <a:buChar char="•"/>
            </a:pPr>
            <a:r>
              <a:rPr lang="en-US" sz="1150" dirty="0">
                <a:solidFill>
                  <a:srgbClr val="33404E"/>
                </a:solidFill>
                <a:latin typeface="Arial" pitchFamily="34" charset="0"/>
                <a:ea typeface="Arial" pitchFamily="34" charset="-122"/>
                <a:cs typeface="Arial" pitchFamily="34" charset="-120"/>
              </a:rPr>
              <a:t>Biased MF and </a:t>
            </a:r>
            <a:r>
              <a:rPr lang="en-US" sz="1150" dirty="0" err="1">
                <a:solidFill>
                  <a:srgbClr val="33404E"/>
                </a:solidFill>
                <a:latin typeface="Arial" pitchFamily="34" charset="0"/>
                <a:ea typeface="Arial" pitchFamily="34" charset="-122"/>
                <a:cs typeface="Arial" pitchFamily="34" charset="-120"/>
              </a:rPr>
              <a:t>NeuMF</a:t>
            </a:r>
            <a:r>
              <a:rPr lang="en-US" sz="1150" dirty="0">
                <a:solidFill>
                  <a:srgbClr val="33404E"/>
                </a:solidFill>
                <a:latin typeface="Arial" pitchFamily="34" charset="0"/>
                <a:ea typeface="Arial" pitchFamily="34" charset="-122"/>
                <a:cs typeface="Arial" pitchFamily="34" charset="-120"/>
              </a:rPr>
              <a:t>: Tree SHAP model because vectors are not interpretable by humans (Lundberg and Lee, 2017)</a:t>
            </a:r>
            <a:endParaRPr lang="en-US" sz="1150" dirty="0"/>
          </a:p>
          <a:p>
            <a:pPr marL="152400"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Both models rely on the film's average (0.4) and the viewer's average (0.27)</a:t>
            </a:r>
            <a:endParaRPr lang="en-US" sz="1150" dirty="0"/>
          </a:p>
          <a:p>
            <a:pPr marL="152400" indent="-152400">
              <a:spcAft>
                <a:spcPts val="700"/>
              </a:spcAft>
              <a:buSzPct val="100000"/>
              <a:buChar char="•"/>
            </a:pPr>
            <a:r>
              <a:rPr lang="en-US" sz="1150" dirty="0" err="1">
                <a:solidFill>
                  <a:srgbClr val="33404E"/>
                </a:solidFill>
                <a:latin typeface="Arial" pitchFamily="34" charset="0"/>
                <a:ea typeface="Arial" pitchFamily="34" charset="-122"/>
                <a:cs typeface="Arial" pitchFamily="34" charset="-120"/>
              </a:rPr>
              <a:t>NeuMF</a:t>
            </a:r>
            <a:r>
              <a:rPr lang="en-US" sz="1150" dirty="0">
                <a:solidFill>
                  <a:srgbClr val="33404E"/>
                </a:solidFill>
                <a:latin typeface="Arial" pitchFamily="34" charset="0"/>
                <a:ea typeface="Arial" pitchFamily="34" charset="-122"/>
                <a:cs typeface="Arial" pitchFamily="34" charset="-120"/>
              </a:rPr>
              <a:t>: kernel SHAP for all side features, on occupation and gender most significant</a:t>
            </a:r>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11</a:t>
            </a:fld>
            <a:endParaRPr lang="en-US"/>
          </a:p>
        </p:txBody>
      </p:sp>
      <p:pic>
        <p:nvPicPr>
          <p:cNvPr id="7" name="Picture 6">
            <a:extLst>
              <a:ext uri="{FF2B5EF4-FFF2-40B4-BE49-F238E27FC236}">
                <a16:creationId xmlns:a16="http://schemas.microsoft.com/office/drawing/2014/main" id="{CA6BD675-2197-6A51-F53E-307EAE28EC88}"/>
              </a:ext>
            </a:extLst>
          </p:cNvPr>
          <p:cNvPicPr>
            <a:picLocks noChangeAspect="1"/>
          </p:cNvPicPr>
          <p:nvPr/>
        </p:nvPicPr>
        <p:blipFill>
          <a:blip r:embed="rId3"/>
          <a:stretch>
            <a:fillRect/>
          </a:stretch>
        </p:blipFill>
        <p:spPr>
          <a:xfrm>
            <a:off x="311285" y="1645920"/>
            <a:ext cx="7314914" cy="39739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5883"/>
    </mc:Choice>
    <mc:Fallback xmlns="">
      <p:transition spd="slow" advTm="11588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05 / ETHICAL AND BIAS CONSIDERATIONS</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Bias and ethics</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6949440" cy="2718816"/>
        </p:xfrm>
        <a:graphic>
          <a:graphicData uri="http://schemas.openxmlformats.org/drawingml/2006/table">
            <a:tbl>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84048">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Group</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Size</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Share of ratings</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RMSE biased MF</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tc>
                  <a:txBody>
                    <a:bodyPr/>
                    <a:lstStyle/>
                    <a:p>
                      <a:pPr marL="0" indent="0">
                        <a:buNone/>
                      </a:pPr>
                      <a:r>
                        <a:rPr lang="en-US" sz="1000" b="1" kern="0" spc="100" dirty="0">
                          <a:solidFill>
                            <a:srgbClr val="1F4E79"/>
                          </a:solidFill>
                          <a:latin typeface="Arial" pitchFamily="34" charset="0"/>
                          <a:ea typeface="Arial" pitchFamily="34" charset="-122"/>
                          <a:cs typeface="Arial" pitchFamily="34" charset="-120"/>
                        </a:rPr>
                        <a:t>RMSE NeuMF</a:t>
                      </a:r>
                      <a:endParaRPr lang="en-US" sz="100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EEF3F8"/>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Women</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273 viewers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26%</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0.961</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0.962</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Men</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670 viewers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74%</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0.895</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0.897</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Viewers with 20 to 50 ratings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380 viewers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0.987</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0.991</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Viewers with over 200 ratings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148 viewers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0.889</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0.891</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Films with under 10 ratings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530 films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1.049</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1.049</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50" b="1" dirty="0">
                          <a:solidFill>
                            <a:srgbClr val="141920"/>
                          </a:solidFill>
                          <a:latin typeface="Arial" pitchFamily="34" charset="0"/>
                          <a:ea typeface="Arial" pitchFamily="34" charset="-122"/>
                          <a:cs typeface="Arial" pitchFamily="34" charset="-120"/>
                        </a:rPr>
                        <a:t>Films with 150+ ratings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203 films</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48%</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0.886</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tc>
                  <a:txBody>
                    <a:bodyPr/>
                    <a:lstStyle/>
                    <a:p>
                      <a:pPr marL="0" indent="0">
                        <a:buNone/>
                      </a:pPr>
                      <a:r>
                        <a:rPr lang="en-US" sz="1050" dirty="0">
                          <a:solidFill>
                            <a:srgbClr val="33404E"/>
                          </a:solidFill>
                          <a:latin typeface="Arial" pitchFamily="34" charset="0"/>
                          <a:ea typeface="Arial" pitchFamily="34" charset="-122"/>
                          <a:cs typeface="Arial" pitchFamily="34" charset="-120"/>
                        </a:rPr>
                        <a:t>0.885</a:t>
                      </a:r>
                      <a:endParaRPr lang="en-US" sz="1050" dirty="0">
                        <a:latin typeface="Arial" charset="0"/>
                        <a:ea typeface="Arial" charset="0"/>
                        <a:cs typeface="Arial" charset="0"/>
                      </a:endParaRPr>
                    </a:p>
                  </a:txBody>
                  <a:tcPr marL="54864" marR="54864" marT="54864" marB="54864">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7955280" y="1783080"/>
            <a:ext cx="3550615" cy="4160520"/>
          </a:xfrm>
          <a:prstGeom prst="rect">
            <a:avLst/>
          </a:prstGeom>
          <a:noFill/>
          <a:ln/>
        </p:spPr>
        <p:txBody>
          <a:bodyPr wrap="square" lIns="0" tIns="0" rIns="0" bIns="0" rtlCol="0" anchor="t"/>
          <a:lstStyle/>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Sampling bias: </a:t>
            </a:r>
            <a:r>
              <a:rPr lang="en-US" sz="1150" dirty="0">
                <a:solidFill>
                  <a:srgbClr val="33404E"/>
                </a:solidFill>
                <a:latin typeface="Arial" pitchFamily="34" charset="0"/>
                <a:ea typeface="Arial" pitchFamily="34" charset="-122"/>
                <a:cs typeface="Arial" pitchFamily="34" charset="-120"/>
              </a:rPr>
              <a:t>women are underrepresented and have a 0.07 higher error (Ekstrand et al., 2018)</a:t>
            </a:r>
            <a:endParaRPr lang="en-US" sz="1150" dirty="0"/>
          </a:p>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Overprediction: </a:t>
            </a:r>
            <a:r>
              <a:rPr lang="en-US" sz="1150" dirty="0">
                <a:solidFill>
                  <a:srgbClr val="33404E"/>
                </a:solidFill>
                <a:latin typeface="Arial" pitchFamily="34" charset="0"/>
                <a:ea typeface="Arial" pitchFamily="34" charset="-122"/>
                <a:cs typeface="Arial" pitchFamily="34" charset="-120"/>
              </a:rPr>
              <a:t>Films with fewer than 10 ratings are overpredicted by 0.23 stars and have a 0.16 higher error. Involves 530 out of 1,682 films</a:t>
            </a:r>
            <a:endParaRPr lang="en-US" sz="1150" dirty="0"/>
          </a:p>
          <a:p>
            <a:pPr marL="152400" indent="-152400">
              <a:spcAft>
                <a:spcPts val="700"/>
              </a:spcAft>
              <a:buSzPct val="100000"/>
              <a:buChar char="•"/>
            </a:pPr>
            <a:r>
              <a:rPr lang="en-US" sz="1150" b="1" dirty="0">
                <a:solidFill>
                  <a:srgbClr val="33404E"/>
                </a:solidFill>
                <a:latin typeface="Arial" pitchFamily="34" charset="0"/>
                <a:ea typeface="Arial" pitchFamily="34" charset="-122"/>
                <a:cs typeface="Arial" pitchFamily="34" charset="-120"/>
              </a:rPr>
              <a:t>Popularity bias</a:t>
            </a:r>
            <a:r>
              <a:rPr lang="en-US" sz="1150" dirty="0">
                <a:solidFill>
                  <a:srgbClr val="33404E"/>
                </a:solidFill>
                <a:latin typeface="Arial" pitchFamily="34" charset="0"/>
                <a:ea typeface="Arial" pitchFamily="34" charset="-122"/>
                <a:cs typeface="Arial" pitchFamily="34" charset="-120"/>
              </a:rPr>
              <a:t>: only 225 (NeuMF 167) of 1,682 films appear in a top 10 list</a:t>
            </a:r>
            <a:endParaRPr lang="en-US" sz="1150" dirty="0"/>
          </a:p>
          <a:p>
            <a:pPr marL="609600" lvl="1" indent="-152400">
              <a:spcAft>
                <a:spcPts val="700"/>
              </a:spcAft>
              <a:buSzPct val="100000"/>
              <a:buChar char="•"/>
            </a:pPr>
            <a:r>
              <a:rPr lang="en-US" sz="1150" dirty="0">
                <a:solidFill>
                  <a:srgbClr val="33404E"/>
                </a:solidFill>
                <a:latin typeface="Arial" pitchFamily="34" charset="0"/>
                <a:ea typeface="Arial" pitchFamily="34" charset="-122"/>
                <a:cs typeface="Arial" pitchFamily="34" charset="-120"/>
              </a:rPr>
              <a:t>Reserve a share of every top-N list for infrequently rated films by re-ranking (Abdollahpouri et al., 2019)</a:t>
            </a:r>
            <a:endParaRPr lang="en-US" sz="11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21736"/>
    </mc:Choice>
    <mc:Fallback xmlns="">
      <p:transition spd="slow" advTm="12173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06 / DEPLOYMENT CONSIDERATIONS</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Deployment</a:t>
            </a:r>
            <a:endParaRPr lang="en-US" sz="2400" dirty="0"/>
          </a:p>
        </p:txBody>
      </p:sp>
      <p:sp>
        <p:nvSpPr>
          <p:cNvPr id="4" name="step0"/>
          <p:cNvSpPr/>
          <p:nvPr/>
        </p:nvSpPr>
        <p:spPr>
          <a:xfrm>
            <a:off x="685800" y="1783080"/>
            <a:ext cx="2464994" cy="2377440"/>
          </a:xfrm>
          <a:prstGeom prst="roundRect">
            <a:avLst>
              <a:gd name="adj" fmla="val 2308"/>
            </a:avLst>
          </a:prstGeom>
          <a:solidFill>
            <a:srgbClr val="EEF3F8"/>
          </a:solidFill>
          <a:ln w="9525">
            <a:solidFill>
              <a:srgbClr val="E4E7EC"/>
            </a:solidFill>
            <a:prstDash val="solid"/>
          </a:ln>
        </p:spPr>
        <p:txBody>
          <a:bodyPr/>
          <a:lstStyle/>
          <a:p>
            <a:endParaRPr lang="en-US"/>
          </a:p>
        </p:txBody>
      </p:sp>
      <p:sp>
        <p:nvSpPr>
          <p:cNvPr id="5" name="stepnum0"/>
          <p:cNvSpPr txBox="1"/>
          <p:nvPr/>
        </p:nvSpPr>
        <p:spPr>
          <a:xfrm>
            <a:off x="868680"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01</a:t>
            </a:r>
            <a:endParaRPr lang="en-US" sz="1100" dirty="0"/>
          </a:p>
        </p:txBody>
      </p:sp>
      <p:sp>
        <p:nvSpPr>
          <p:cNvPr id="6" name="steplabel0"/>
          <p:cNvSpPr txBox="1"/>
          <p:nvPr/>
        </p:nvSpPr>
        <p:spPr>
          <a:xfrm>
            <a:off x="1280160"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Scalability</a:t>
            </a:r>
            <a:endParaRPr lang="en-US" sz="1300" dirty="0"/>
          </a:p>
        </p:txBody>
      </p:sp>
      <p:sp>
        <p:nvSpPr>
          <p:cNvPr id="7" name="steptext0"/>
          <p:cNvSpPr txBox="1"/>
          <p:nvPr/>
        </p:nvSpPr>
        <p:spPr>
          <a:xfrm>
            <a:off x="868680" y="2423160"/>
            <a:ext cx="2099234" cy="1645920"/>
          </a:xfrm>
          <a:prstGeom prst="rect">
            <a:avLst/>
          </a:prstGeom>
          <a:noFill/>
          <a:ln/>
        </p:spPr>
        <p:txBody>
          <a:bodyPr wrap="square" lIns="0" tIns="0" rIns="0" bIns="0" rtlCol="0" anchor="t"/>
          <a:lstStyle/>
          <a:p>
            <a:pPr marL="0" indent="0">
              <a:buNone/>
            </a:pPr>
            <a:endParaRPr lang="en-US" sz="1050" dirty="0">
              <a:solidFill>
                <a:srgbClr val="5C6672"/>
              </a:solidFill>
              <a:latin typeface="Arial" pitchFamily="34" charset="0"/>
              <a:ea typeface="Arial" pitchFamily="34" charset="-122"/>
              <a:cs typeface="Arial" pitchFamily="34" charset="-120"/>
            </a:endParaRP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Requirements depends on the objective of the application</a:t>
            </a:r>
          </a:p>
          <a:p>
            <a:pPr marL="171450" indent="-171450">
              <a:buFont typeface="Arial" panose="020B0604020202020204" pitchFamily="34" charset="0"/>
              <a:buChar char="•"/>
            </a:pPr>
            <a:endParaRPr lang="en-US" sz="1050" dirty="0">
              <a:solidFill>
                <a:srgbClr val="5C6672"/>
              </a:solidFill>
              <a:latin typeface="Arial" pitchFamily="34" charset="0"/>
              <a:ea typeface="Arial" pitchFamily="34" charset="-122"/>
              <a:cs typeface="Arial" pitchFamily="34" charset="-120"/>
            </a:endParaRP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Interactions grow significantly with viewers × movies</a:t>
            </a:r>
            <a:endParaRPr lang="en-US" sz="1050" dirty="0"/>
          </a:p>
        </p:txBody>
      </p:sp>
      <p:sp>
        <p:nvSpPr>
          <p:cNvPr id="8" name="arrow0"/>
          <p:cNvSpPr txBox="1"/>
          <p:nvPr/>
        </p:nvSpPr>
        <p:spPr>
          <a:xfrm>
            <a:off x="3169082" y="2743200"/>
            <a:ext cx="292608" cy="365760"/>
          </a:xfrm>
          <a:prstGeom prst="rect">
            <a:avLst/>
          </a:prstGeom>
          <a:noFill/>
          <a:ln/>
        </p:spPr>
        <p:txBody>
          <a:bodyPr wrap="square" lIns="0" tIns="0" rIns="0" bIns="0" rtlCol="0" anchor="ctr"/>
          <a:lstStyle/>
          <a:p>
            <a:pPr marL="0" indent="0" algn="ctr">
              <a:buNone/>
            </a:pPr>
            <a:r>
              <a:rPr lang="en-US" sz="1600" dirty="0">
                <a:solidFill>
                  <a:srgbClr val="8A929C"/>
                </a:solidFill>
                <a:latin typeface="Arial" pitchFamily="34" charset="0"/>
                <a:ea typeface="Arial" pitchFamily="34" charset="-122"/>
                <a:cs typeface="Arial" pitchFamily="34" charset="-120"/>
              </a:rPr>
              <a:t>→</a:t>
            </a:r>
            <a:endParaRPr lang="en-US" sz="1600" dirty="0"/>
          </a:p>
        </p:txBody>
      </p:sp>
      <p:sp>
        <p:nvSpPr>
          <p:cNvPr id="9" name="step1"/>
          <p:cNvSpPr/>
          <p:nvPr/>
        </p:nvSpPr>
        <p:spPr>
          <a:xfrm>
            <a:off x="3470834" y="1783080"/>
            <a:ext cx="2464994" cy="2377440"/>
          </a:xfrm>
          <a:prstGeom prst="roundRect">
            <a:avLst>
              <a:gd name="adj" fmla="val 2308"/>
            </a:avLst>
          </a:prstGeom>
          <a:solidFill>
            <a:srgbClr val="FFFFFF"/>
          </a:solidFill>
          <a:ln w="9525">
            <a:solidFill>
              <a:srgbClr val="E4E7EC"/>
            </a:solidFill>
            <a:prstDash val="solid"/>
          </a:ln>
        </p:spPr>
        <p:txBody>
          <a:bodyPr/>
          <a:lstStyle/>
          <a:p>
            <a:endParaRPr lang="en-US"/>
          </a:p>
        </p:txBody>
      </p:sp>
      <p:sp>
        <p:nvSpPr>
          <p:cNvPr id="10" name="stepnum1"/>
          <p:cNvSpPr txBox="1"/>
          <p:nvPr/>
        </p:nvSpPr>
        <p:spPr>
          <a:xfrm>
            <a:off x="3653714"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02</a:t>
            </a:r>
            <a:endParaRPr lang="en-US" sz="1100" dirty="0"/>
          </a:p>
        </p:txBody>
      </p:sp>
      <p:sp>
        <p:nvSpPr>
          <p:cNvPr id="11" name="steplabel1"/>
          <p:cNvSpPr txBox="1"/>
          <p:nvPr/>
        </p:nvSpPr>
        <p:spPr>
          <a:xfrm>
            <a:off x="4065194"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Precompute</a:t>
            </a:r>
            <a:endParaRPr lang="en-US" sz="1300" dirty="0"/>
          </a:p>
        </p:txBody>
      </p:sp>
      <p:sp>
        <p:nvSpPr>
          <p:cNvPr id="12" name="steptext1"/>
          <p:cNvSpPr txBox="1"/>
          <p:nvPr/>
        </p:nvSpPr>
        <p:spPr>
          <a:xfrm>
            <a:off x="3653714" y="2423160"/>
            <a:ext cx="2099234" cy="1645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Safe assumption that most viewers watch less than a movie a day</a:t>
            </a: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Solution: Recommendations precomputed overnight on a cloud server</a:t>
            </a:r>
            <a:endParaRPr lang="en-US" sz="1050" dirty="0"/>
          </a:p>
        </p:txBody>
      </p:sp>
      <p:sp>
        <p:nvSpPr>
          <p:cNvPr id="13" name="arrow1"/>
          <p:cNvSpPr txBox="1"/>
          <p:nvPr/>
        </p:nvSpPr>
        <p:spPr>
          <a:xfrm>
            <a:off x="5954116" y="2743200"/>
            <a:ext cx="292608" cy="365760"/>
          </a:xfrm>
          <a:prstGeom prst="rect">
            <a:avLst/>
          </a:prstGeom>
          <a:noFill/>
          <a:ln/>
        </p:spPr>
        <p:txBody>
          <a:bodyPr wrap="square" lIns="0" tIns="0" rIns="0" bIns="0" rtlCol="0" anchor="ctr"/>
          <a:lstStyle/>
          <a:p>
            <a:pPr marL="0" indent="0" algn="ctr">
              <a:buNone/>
            </a:pPr>
            <a:r>
              <a:rPr lang="en-US" sz="1600" dirty="0">
                <a:solidFill>
                  <a:srgbClr val="8A929C"/>
                </a:solidFill>
                <a:latin typeface="Arial" pitchFamily="34" charset="0"/>
                <a:ea typeface="Arial" pitchFamily="34" charset="-122"/>
                <a:cs typeface="Arial" pitchFamily="34" charset="-120"/>
              </a:rPr>
              <a:t>→</a:t>
            </a:r>
            <a:endParaRPr lang="en-US" sz="1600" dirty="0"/>
          </a:p>
        </p:txBody>
      </p:sp>
      <p:sp>
        <p:nvSpPr>
          <p:cNvPr id="14" name="step2"/>
          <p:cNvSpPr/>
          <p:nvPr/>
        </p:nvSpPr>
        <p:spPr>
          <a:xfrm>
            <a:off x="6255868" y="1783080"/>
            <a:ext cx="2464994" cy="2377440"/>
          </a:xfrm>
          <a:prstGeom prst="roundRect">
            <a:avLst>
              <a:gd name="adj" fmla="val 2308"/>
            </a:avLst>
          </a:prstGeom>
          <a:solidFill>
            <a:srgbClr val="FFFFFF"/>
          </a:solidFill>
          <a:ln w="9525">
            <a:solidFill>
              <a:srgbClr val="E4E7EC"/>
            </a:solidFill>
            <a:prstDash val="solid"/>
          </a:ln>
        </p:spPr>
        <p:txBody>
          <a:bodyPr/>
          <a:lstStyle/>
          <a:p>
            <a:endParaRPr lang="en-US"/>
          </a:p>
        </p:txBody>
      </p:sp>
      <p:sp>
        <p:nvSpPr>
          <p:cNvPr id="15" name="stepnum2"/>
          <p:cNvSpPr txBox="1"/>
          <p:nvPr/>
        </p:nvSpPr>
        <p:spPr>
          <a:xfrm>
            <a:off x="6438748"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03</a:t>
            </a:r>
            <a:endParaRPr lang="en-US" sz="1100" dirty="0"/>
          </a:p>
        </p:txBody>
      </p:sp>
      <p:sp>
        <p:nvSpPr>
          <p:cNvPr id="16" name="steplabel2"/>
          <p:cNvSpPr txBox="1"/>
          <p:nvPr/>
        </p:nvSpPr>
        <p:spPr>
          <a:xfrm>
            <a:off x="6850228"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Real time</a:t>
            </a:r>
            <a:endParaRPr lang="en-US" sz="1300" dirty="0"/>
          </a:p>
        </p:txBody>
      </p:sp>
      <p:sp>
        <p:nvSpPr>
          <p:cNvPr id="17" name="steptext2"/>
          <p:cNvSpPr txBox="1"/>
          <p:nvPr/>
        </p:nvSpPr>
        <p:spPr>
          <a:xfrm>
            <a:off x="6438748" y="2423160"/>
            <a:ext cx="2099234" cy="1645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Deploy hybrid system: </a:t>
            </a: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1. Select top N candidates per viewer on content features</a:t>
            </a: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2. Compute the recommendations only for preselected movies. (Zhang et al., 2020)</a:t>
            </a:r>
            <a:endParaRPr lang="en-US" sz="1050" dirty="0"/>
          </a:p>
        </p:txBody>
      </p:sp>
      <p:sp>
        <p:nvSpPr>
          <p:cNvPr id="18" name="arrow2"/>
          <p:cNvSpPr txBox="1"/>
          <p:nvPr/>
        </p:nvSpPr>
        <p:spPr>
          <a:xfrm>
            <a:off x="8739149" y="2743200"/>
            <a:ext cx="292608" cy="365760"/>
          </a:xfrm>
          <a:prstGeom prst="rect">
            <a:avLst/>
          </a:prstGeom>
          <a:noFill/>
          <a:ln/>
        </p:spPr>
        <p:txBody>
          <a:bodyPr wrap="square" lIns="0" tIns="0" rIns="0" bIns="0" rtlCol="0" anchor="ctr"/>
          <a:lstStyle/>
          <a:p>
            <a:pPr marL="0" indent="0" algn="ctr">
              <a:buNone/>
            </a:pPr>
            <a:r>
              <a:rPr lang="en-US" sz="1600" dirty="0">
                <a:solidFill>
                  <a:srgbClr val="8A929C"/>
                </a:solidFill>
                <a:latin typeface="Arial" pitchFamily="34" charset="0"/>
                <a:ea typeface="Arial" pitchFamily="34" charset="-122"/>
                <a:cs typeface="Arial" pitchFamily="34" charset="-120"/>
              </a:rPr>
              <a:t>→</a:t>
            </a:r>
            <a:endParaRPr lang="en-US" sz="1600" dirty="0"/>
          </a:p>
        </p:txBody>
      </p:sp>
      <p:sp>
        <p:nvSpPr>
          <p:cNvPr id="19" name="step3"/>
          <p:cNvSpPr/>
          <p:nvPr/>
        </p:nvSpPr>
        <p:spPr>
          <a:xfrm>
            <a:off x="9040901" y="1783080"/>
            <a:ext cx="2464994" cy="2377440"/>
          </a:xfrm>
          <a:prstGeom prst="roundRect">
            <a:avLst>
              <a:gd name="adj" fmla="val 2308"/>
            </a:avLst>
          </a:prstGeom>
          <a:solidFill>
            <a:srgbClr val="FFFFFF"/>
          </a:solidFill>
          <a:ln w="9525">
            <a:solidFill>
              <a:srgbClr val="E4E7EC"/>
            </a:solidFill>
            <a:prstDash val="solid"/>
          </a:ln>
        </p:spPr>
        <p:txBody>
          <a:bodyPr/>
          <a:lstStyle/>
          <a:p>
            <a:endParaRPr lang="en-US"/>
          </a:p>
        </p:txBody>
      </p:sp>
      <p:sp>
        <p:nvSpPr>
          <p:cNvPr id="20" name="stepnum3"/>
          <p:cNvSpPr txBox="1"/>
          <p:nvPr/>
        </p:nvSpPr>
        <p:spPr>
          <a:xfrm>
            <a:off x="9223781" y="1965960"/>
            <a:ext cx="457200" cy="274320"/>
          </a:xfrm>
          <a:prstGeom prst="rect">
            <a:avLst/>
          </a:prstGeom>
          <a:noFill/>
          <a:ln/>
        </p:spPr>
        <p:txBody>
          <a:bodyPr wrap="square" lIns="0" tIns="0" rIns="0" bIns="0" rtlCol="0" anchor="ctr"/>
          <a:lstStyle/>
          <a:p>
            <a:pPr marL="0" indent="0">
              <a:buNone/>
            </a:pPr>
            <a:r>
              <a:rPr lang="en-US" sz="1100" dirty="0">
                <a:solidFill>
                  <a:srgbClr val="1F4E79"/>
                </a:solidFill>
                <a:latin typeface="Courier New" pitchFamily="34" charset="0"/>
                <a:ea typeface="Courier New" pitchFamily="34" charset="-122"/>
                <a:cs typeface="Courier New" pitchFamily="34" charset="-120"/>
              </a:rPr>
              <a:t>04</a:t>
            </a:r>
            <a:endParaRPr lang="en-US" sz="1100" dirty="0"/>
          </a:p>
        </p:txBody>
      </p:sp>
      <p:sp>
        <p:nvSpPr>
          <p:cNvPr id="21" name="steplabel3"/>
          <p:cNvSpPr txBox="1"/>
          <p:nvPr/>
        </p:nvSpPr>
        <p:spPr>
          <a:xfrm>
            <a:off x="9635261" y="1920240"/>
            <a:ext cx="1687754" cy="411480"/>
          </a:xfrm>
          <a:prstGeom prst="rect">
            <a:avLst/>
          </a:prstGeom>
          <a:noFill/>
          <a:ln/>
        </p:spPr>
        <p:txBody>
          <a:bodyPr wrap="square" lIns="0" tIns="0" rIns="0" bIns="0" rtlCol="0" anchor="ctr"/>
          <a:lstStyle/>
          <a:p>
            <a:pPr marL="0" indent="0">
              <a:buNone/>
            </a:pPr>
            <a:r>
              <a:rPr lang="en-US" sz="1300" b="1" dirty="0">
                <a:solidFill>
                  <a:srgbClr val="141920"/>
                </a:solidFill>
                <a:latin typeface="Arial" pitchFamily="34" charset="0"/>
                <a:ea typeface="Arial" pitchFamily="34" charset="-122"/>
                <a:cs typeface="Arial" pitchFamily="34" charset="-120"/>
              </a:rPr>
              <a:t>Per segment and monitoring</a:t>
            </a:r>
            <a:endParaRPr lang="en-US" sz="1300" dirty="0"/>
          </a:p>
        </p:txBody>
      </p:sp>
      <p:sp>
        <p:nvSpPr>
          <p:cNvPr id="22" name="steptext3"/>
          <p:cNvSpPr txBox="1"/>
          <p:nvPr/>
        </p:nvSpPr>
        <p:spPr>
          <a:xfrm>
            <a:off x="9223781" y="2423160"/>
            <a:ext cx="2099234" cy="1645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Popularity bias: every top N selection keeps a share for infrequently rated films (Abdollahpouri et al., 2019)</a:t>
            </a: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Content-based with an onboarding questionnaire for new users</a:t>
            </a:r>
          </a:p>
          <a:p>
            <a:pPr marL="171450" indent="-171450">
              <a:buFont typeface="Arial" panose="020B0604020202020204" pitchFamily="34" charset="0"/>
              <a:buChar char="•"/>
            </a:pPr>
            <a:r>
              <a:rPr lang="en-US" sz="1050" dirty="0">
                <a:solidFill>
                  <a:srgbClr val="5C6672"/>
                </a:solidFill>
                <a:latin typeface="Arial" pitchFamily="34" charset="0"/>
                <a:ea typeface="Arial" pitchFamily="34" charset="-122"/>
                <a:cs typeface="Arial" pitchFamily="34" charset="-120"/>
              </a:rPr>
              <a:t>Monitor the error rate and retrain when the data changes</a:t>
            </a:r>
            <a:endParaRPr lang="en-US" sz="1050" dirty="0"/>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79710"/>
    </mc:Choice>
    <mc:Fallback xmlns="">
      <p:transition spd="slow" advTm="7971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rgbClr val="8FB3D6"/>
                </a:solidFill>
              </a:rPr>
              <a:t>07 / SUMMARY</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bg1"/>
                </a:solidFill>
              </a:rPr>
              <a:t>Conclusion</a:t>
            </a:r>
            <a:endParaRPr lang="en-US" sz="2400" dirty="0"/>
          </a:p>
        </p:txBody>
      </p:sp>
      <p:sp>
        <p:nvSpPr>
          <p:cNvPr id="4" name="Text 0"/>
          <p:cNvSpPr>
            <a:spLocks noGrp="1"/>
          </p:cNvSpPr>
          <p:nvPr>
            <p:ph type="body" idx="102" hasCustomPrompt="1"/>
          </p:nvPr>
        </p:nvSpPr>
        <p:spPr>
          <a:xfrm>
            <a:off x="685800" y="1737360"/>
            <a:ext cx="10820095" cy="4206240"/>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9AA6B2"/>
                </a:solidFill>
              </a:rPr>
              <a:t>Biased MF matches NeuMF on RMSE and is slightly better on NDCG, so for this experiment the classical model is preferred because it is more efficient</a:t>
            </a:r>
          </a:p>
          <a:p>
            <a:pPr marL="152400" indent="-152400">
              <a:spcAft>
                <a:spcPts val="1000"/>
              </a:spcAft>
              <a:buSzPct val="100000"/>
              <a:buFont typeface="Arial" pitchFamily="34" charset="0"/>
              <a:buChar char="•"/>
            </a:pPr>
            <a:r>
              <a:rPr lang="en-US" dirty="0"/>
              <a:t>Scarce features and 100,000 rows is little for a deep learning model, therefore no significant difference was expected</a:t>
            </a:r>
            <a:endParaRPr lang="en-US" sz="1400" dirty="0">
              <a:solidFill>
                <a:srgbClr val="9AA6B2"/>
              </a:solidFill>
            </a:endParaRPr>
          </a:p>
          <a:p>
            <a:pPr marL="152400" indent="-152400">
              <a:spcAft>
                <a:spcPts val="1000"/>
              </a:spcAft>
              <a:buSzPct val="100000"/>
              <a:buChar char="•"/>
            </a:pPr>
            <a:r>
              <a:rPr lang="en-US" sz="1400" dirty="0">
                <a:solidFill>
                  <a:srgbClr val="9AA6B2"/>
                </a:solidFill>
              </a:rPr>
              <a:t>The models are arguably not very explainable given that the vectors are not interpretable by humans</a:t>
            </a:r>
          </a:p>
          <a:p>
            <a:pPr marL="152400" indent="-152400">
              <a:spcAft>
                <a:spcPts val="1000"/>
              </a:spcAft>
              <a:buSzPct val="100000"/>
              <a:buChar char="•"/>
            </a:pPr>
            <a:r>
              <a:rPr lang="en-US" dirty="0"/>
              <a:t>We have discussed deployment considerations based on the purpose of the application</a:t>
            </a:r>
            <a:endParaRPr lang="en-US" sz="1400" dirty="0"/>
          </a:p>
          <a:p>
            <a:pPr marL="152400" indent="-152400">
              <a:spcAft>
                <a:spcPts val="1000"/>
              </a:spcAft>
              <a:buSzPct val="100000"/>
              <a:buChar char="•"/>
            </a:pPr>
            <a:r>
              <a:rPr lang="en-US" sz="1400" dirty="0">
                <a:solidFill>
                  <a:srgbClr val="9AA6B2"/>
                </a:solidFill>
              </a:rPr>
              <a:t>We have discussed sampling bias for women, popularity bias against inactive viewers and rarely rated films</a:t>
            </a:r>
          </a:p>
          <a:p>
            <a:pPr marL="152400" indent="-152400">
              <a:spcAft>
                <a:spcPts val="1000"/>
              </a:spcAft>
              <a:buSzPct val="100000"/>
              <a:buChar char="•"/>
            </a:pPr>
            <a:r>
              <a:rPr lang="en-US" sz="1400" dirty="0">
                <a:solidFill>
                  <a:srgbClr val="9AA6B2"/>
                </a:solidFill>
              </a:rPr>
              <a:t>Thanks for listening</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2000" advTm="100923"/>
    </mc:Choice>
    <mc:Fallback xmlns="">
      <p:transition spd="slow" advTm="10092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rgbClr val="8FB3D6"/>
                </a:solidFill>
              </a:rPr>
              <a:t>08 / Demonstration</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bg1"/>
                </a:solidFill>
              </a:rPr>
              <a:t>Demonstration</a:t>
            </a:r>
            <a:endParaRPr lang="en-US" sz="2400" dirty="0"/>
          </a:p>
        </p:txBody>
      </p:sp>
      <p:pic>
        <p:nvPicPr>
          <p:cNvPr id="5" name="notebook_demo">
            <a:hlinkClick r:id="" action="ppaction://media"/>
            <a:extLst>
              <a:ext uri="{FF2B5EF4-FFF2-40B4-BE49-F238E27FC236}">
                <a16:creationId xmlns:a16="http://schemas.microsoft.com/office/drawing/2014/main" id="{5B99C562-E156-A3B2-A639-32FCD3E4493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85800" y="1408966"/>
            <a:ext cx="8132476" cy="4574518"/>
          </a:xfrm>
          <a:prstGeom prst="rect">
            <a:avLst/>
          </a:prstGeom>
        </p:spPr>
      </p:pic>
    </p:spTree>
    <p:extLst>
      <p:ext uri="{BB962C8B-B14F-4D97-AF65-F5344CB8AC3E}">
        <p14:creationId xmlns:p14="http://schemas.microsoft.com/office/powerpoint/2010/main" val="509637968"/>
      </p:ext>
    </p:extLst>
  </p:cSld>
  <p:clrMapOvr>
    <a:masterClrMapping/>
  </p:clrMapOvr>
  <mc:AlternateContent xmlns:mc="http://schemas.openxmlformats.org/markup-compatibility/2006" xmlns:p14="http://schemas.microsoft.com/office/powerpoint/2010/main">
    <mc:Choice Requires="p14">
      <p:transition spd="slow" p14:dur="2000" advTm="100923"/>
    </mc:Choice>
    <mc:Fallback xmlns="">
      <p:transition spd="slow" advTm="10092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6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274320"/>
          </a:xfrm>
          <a:prstGeom prst="rect">
            <a:avLst/>
          </a:prstGeom>
          <a:noFill/>
          <a:ln/>
        </p:spPr>
        <p:txBody>
          <a:bodyPr wrap="square" lIns="0" tIns="0" rIns="0" bIns="0" rtlCol="0"/>
          <a:lstStyle/>
          <a:p>
            <a:pPr marL="0" indent="0">
              <a:buNone/>
            </a:pPr>
            <a:r>
              <a:rPr lang="en-US" sz="1000" b="1" kern="0" spc="300" dirty="0">
                <a:solidFill>
                  <a:schemeClr val="accent1"/>
                </a:solidFill>
              </a:rPr>
              <a:t>09 / APPENDIX</a:t>
            </a:r>
            <a:endParaRPr lang="en-US" sz="1000" dirty="0"/>
          </a:p>
        </p:txBody>
      </p:sp>
      <p:sp>
        <p:nvSpPr>
          <p:cNvPr id="3" name="Text 0"/>
          <p:cNvSpPr>
            <a:spLocks noGrp="1"/>
          </p:cNvSpPr>
          <p:nvPr>
            <p:ph type="title" idx="101" hasCustomPrompt="1"/>
          </p:nvPr>
        </p:nvSpPr>
        <p:spPr>
          <a:xfrm>
            <a:off x="685800" y="777240"/>
            <a:ext cx="10820095" cy="868680"/>
          </a:xfrm>
          <a:prstGeom prst="rect">
            <a:avLst/>
          </a:prstGeom>
          <a:noFill/>
          <a:ln/>
        </p:spPr>
        <p:txBody>
          <a:bodyPr wrap="square" lIns="0" tIns="0" rIns="0" bIns="0" rtlCol="0" anchor="t"/>
          <a:lstStyle/>
          <a:p>
            <a:pPr marL="0" indent="0" algn="l">
              <a:buNone/>
            </a:pPr>
            <a:r>
              <a:rPr lang="en-US" sz="2400" b="1" dirty="0">
                <a:solidFill>
                  <a:schemeClr val="tx1"/>
                </a:solidFill>
              </a:rPr>
              <a:t>References</a:t>
            </a:r>
            <a:endParaRPr lang="en-US" sz="2400" dirty="0"/>
          </a:p>
        </p:txBody>
      </p:sp>
      <p:sp>
        <p:nvSpPr>
          <p:cNvPr id="4" name="Text 2"/>
          <p:cNvSpPr txBox="1"/>
          <p:nvPr/>
        </p:nvSpPr>
        <p:spPr>
          <a:xfrm>
            <a:off x="685799" y="1243681"/>
            <a:ext cx="10820095" cy="4160520"/>
          </a:xfrm>
          <a:prstGeom prst="rect">
            <a:avLst/>
          </a:prstGeom>
          <a:noFill/>
          <a:ln/>
        </p:spPr>
        <p:txBody>
          <a:bodyPr wrap="square" lIns="0" tIns="0" rIns="0" bIns="0" rtlCol="0" anchor="t"/>
          <a:lstStyle/>
          <a:p>
            <a:r>
              <a:rPr lang="en-US" sz="1000" dirty="0" err="1"/>
              <a:t>Abdollahpouri</a:t>
            </a:r>
            <a:r>
              <a:rPr lang="en-US" sz="1000" dirty="0"/>
              <a:t>, H., Burke, R. and Mobasher, B. (2019) ‘Managing popularity bias in recommender systems with personalized re-ranking’, in </a:t>
            </a:r>
            <a:r>
              <a:rPr lang="en-US" sz="1000" i="1" dirty="0"/>
              <a:t>Proceedings of the 32nd International Florida Artificial Intelligence Research Society Conference (FLAIRS-32)</a:t>
            </a:r>
            <a:r>
              <a:rPr lang="en-US" sz="1000" dirty="0"/>
              <a:t>. Sarasota, FL, 19–22 May. Palo Alto, CA: AAAI Press. Available at: </a:t>
            </a:r>
            <a:r>
              <a:rPr lang="en-US" sz="1000" u="sng" dirty="0">
                <a:hlinkClick r:id="rId3"/>
              </a:rPr>
              <a:t>https://arxiv.org/abs/1901.07555</a:t>
            </a:r>
            <a:r>
              <a:rPr lang="en-US" sz="1000" dirty="0"/>
              <a:t> (Accessed: 1 October 2026).</a:t>
            </a:r>
          </a:p>
          <a:p>
            <a:endParaRPr lang="en-US" sz="1000" dirty="0"/>
          </a:p>
          <a:p>
            <a:r>
              <a:rPr lang="nl-NL" sz="1000" dirty="0"/>
              <a:t>Ekstrand, M.D., et al. </a:t>
            </a:r>
            <a:r>
              <a:rPr lang="en-US" sz="1000" dirty="0"/>
              <a:t>(2018) ‘All the cool kids, how do they fit in? Popularity and demographic biases in recommender evaluation and effectiveness’, in </a:t>
            </a:r>
            <a:r>
              <a:rPr lang="en-US" sz="1000" i="1" dirty="0"/>
              <a:t>Proceedings of the 1st Conference on Fairness, Accountability and Transparency</a:t>
            </a:r>
            <a:r>
              <a:rPr lang="en-US" sz="1000" dirty="0"/>
              <a:t>. New York, NY, 23–24 February. Proceedings of Machine Learning Research, 81, pp. 172–186. Available at: </a:t>
            </a:r>
            <a:r>
              <a:rPr lang="en-US" sz="1000" u="sng" dirty="0">
                <a:hlinkClick r:id="rId4"/>
              </a:rPr>
              <a:t>https://proceedings.mlr.press/v81/ekstrand18b.html</a:t>
            </a:r>
            <a:r>
              <a:rPr lang="en-US" sz="1000" dirty="0"/>
              <a:t> (Accessed: 5 October 2026).</a:t>
            </a:r>
          </a:p>
          <a:p>
            <a:endParaRPr lang="en-US" sz="1000" dirty="0"/>
          </a:p>
          <a:p>
            <a:r>
              <a:rPr lang="en-US" sz="1000" dirty="0" err="1"/>
              <a:t>GroupLens</a:t>
            </a:r>
            <a:r>
              <a:rPr lang="en-US" sz="1000" dirty="0"/>
              <a:t> Research (1998) </a:t>
            </a:r>
            <a:r>
              <a:rPr lang="en-US" sz="1000" i="1" dirty="0" err="1"/>
              <a:t>MovieLens</a:t>
            </a:r>
            <a:r>
              <a:rPr lang="en-US" sz="1000" i="1" dirty="0"/>
              <a:t> 100K Dataset</a:t>
            </a:r>
            <a:r>
              <a:rPr lang="en-US" sz="1000" dirty="0"/>
              <a:t>. Minneapolis, MN: University of Minnesota. Available at: </a:t>
            </a:r>
            <a:r>
              <a:rPr lang="en-US" sz="1000" u="sng" dirty="0">
                <a:hlinkClick r:id="rId5"/>
              </a:rPr>
              <a:t>https://grouplens.org/datasets/movielens/100k/</a:t>
            </a:r>
            <a:r>
              <a:rPr lang="en-US" sz="1000" dirty="0"/>
              <a:t> (Accessed: 1 October 2026).</a:t>
            </a:r>
          </a:p>
          <a:p>
            <a:endParaRPr lang="en-US" sz="1000" dirty="0"/>
          </a:p>
          <a:p>
            <a:r>
              <a:rPr lang="nl-NL" sz="1000" dirty="0"/>
              <a:t>Gunathilaka, T.M.A.U., et al. </a:t>
            </a:r>
            <a:r>
              <a:rPr lang="en-US" sz="1000" dirty="0"/>
              <a:t>(2025) ‘Addressing sparse data challenges in recommendation systems: a systematic review of rating estimation using sparse rating data and profile enrichment techniques’, </a:t>
            </a:r>
            <a:r>
              <a:rPr lang="en-US" sz="1000" i="1" dirty="0"/>
              <a:t>Intelligent Systems with Applications</a:t>
            </a:r>
            <a:r>
              <a:rPr lang="en-US" sz="1000" dirty="0"/>
              <a:t>, 25, 200474. doi:</a:t>
            </a:r>
            <a:r>
              <a:rPr lang="en-US" sz="1000" u="sng" dirty="0">
                <a:hlinkClick r:id="rId6"/>
              </a:rPr>
              <a:t>10.1016/j.iswa.2024.200474</a:t>
            </a:r>
            <a:r>
              <a:rPr lang="en-US" sz="1000" dirty="0"/>
              <a:t> (Accessed: 1 October 2026).</a:t>
            </a:r>
          </a:p>
          <a:p>
            <a:endParaRPr lang="en-US" sz="1000" dirty="0"/>
          </a:p>
          <a:p>
            <a:r>
              <a:rPr lang="en-US" sz="1000" dirty="0"/>
              <a:t>Harper, F.M. and Konstan, J.A. (2015) ‘The </a:t>
            </a:r>
            <a:r>
              <a:rPr lang="en-US" sz="1000" dirty="0" err="1"/>
              <a:t>MovieLens</a:t>
            </a:r>
            <a:r>
              <a:rPr lang="en-US" sz="1000" dirty="0"/>
              <a:t> datasets: history and context’, </a:t>
            </a:r>
            <a:r>
              <a:rPr lang="en-US" sz="1000" i="1" dirty="0"/>
              <a:t>ACM Transactions on Interactive Intelligent Systems</a:t>
            </a:r>
            <a:r>
              <a:rPr lang="en-US" sz="1000" dirty="0"/>
              <a:t>, 5(4), article 19, pp. 1–19. doi:</a:t>
            </a:r>
            <a:r>
              <a:rPr lang="en-US" sz="1000" u="sng" dirty="0">
                <a:hlinkClick r:id="rId7"/>
              </a:rPr>
              <a:t>10.1145/2827872</a:t>
            </a:r>
            <a:r>
              <a:rPr lang="en-US" sz="1000" dirty="0"/>
              <a:t> (Accessed: 1 October 2026).</a:t>
            </a:r>
          </a:p>
          <a:p>
            <a:r>
              <a:rPr lang="en-US" sz="1000" dirty="0"/>
              <a:t>He, X., et al. (2017) ‘Neural collaborative filtering’, in </a:t>
            </a:r>
            <a:r>
              <a:rPr lang="en-US" sz="1000" i="1" dirty="0"/>
              <a:t>Proceedings of the 26th International Conference on World Wide Web (WWW 2017)</a:t>
            </a:r>
            <a:r>
              <a:rPr lang="en-US" sz="1000" dirty="0"/>
              <a:t>. Perth, Australia, 3–7 April. Geneva: International World Wide Web Conferences Steering Committee, pp. 173–182. doi:</a:t>
            </a:r>
            <a:r>
              <a:rPr lang="en-US" sz="1000" u="sng" dirty="0">
                <a:hlinkClick r:id="rId8"/>
              </a:rPr>
              <a:t>10.1145/3038912.3052569</a:t>
            </a:r>
            <a:r>
              <a:rPr lang="en-US" sz="1000" dirty="0"/>
              <a:t> (Accessed: 1 October 2026).</a:t>
            </a:r>
          </a:p>
          <a:p>
            <a:endParaRPr lang="en-US" sz="1000" dirty="0"/>
          </a:p>
          <a:p>
            <a:r>
              <a:rPr lang="en-US" sz="1000" dirty="0"/>
              <a:t>Idrissi, N. and </a:t>
            </a:r>
            <a:r>
              <a:rPr lang="en-US" sz="1000" dirty="0" err="1"/>
              <a:t>Zellou</a:t>
            </a:r>
            <a:r>
              <a:rPr lang="en-US" sz="1000" dirty="0"/>
              <a:t>, A. (2020) ‘A systematic literature review of sparsity issues in recommender systems’, </a:t>
            </a:r>
            <a:r>
              <a:rPr lang="en-US" sz="1000" i="1" dirty="0"/>
              <a:t>Social Network Analysis and Mining</a:t>
            </a:r>
            <a:r>
              <a:rPr lang="en-US" sz="1000" dirty="0"/>
              <a:t>, 10, article 15. doi:</a:t>
            </a:r>
            <a:r>
              <a:rPr lang="en-US" sz="1000" u="sng" dirty="0">
                <a:hlinkClick r:id="rId9"/>
              </a:rPr>
              <a:t>10.1007/s13278-020-0626-2</a:t>
            </a:r>
            <a:r>
              <a:rPr lang="en-US" sz="1000" dirty="0"/>
              <a:t> (Accessed: 2 October 2026).</a:t>
            </a:r>
          </a:p>
          <a:p>
            <a:r>
              <a:rPr lang="en-US" sz="1000" dirty="0"/>
              <a:t>Jayalakshmi, S., et al. (2022) ‘Movie recommender systems: concepts, methods, challenges, and future directions’, </a:t>
            </a:r>
            <a:r>
              <a:rPr lang="en-US" sz="1000" i="1" dirty="0"/>
              <a:t>Sensors</a:t>
            </a:r>
            <a:r>
              <a:rPr lang="en-US" sz="1000" dirty="0"/>
              <a:t>, 22(13), 4904. doi:</a:t>
            </a:r>
            <a:r>
              <a:rPr lang="en-US" sz="1000" u="sng" dirty="0">
                <a:hlinkClick r:id="rId10"/>
              </a:rPr>
              <a:t>10.3390/s22134904</a:t>
            </a:r>
            <a:r>
              <a:rPr lang="en-US" sz="1000" dirty="0"/>
              <a:t> (Accessed: 1 October 2026).</a:t>
            </a:r>
          </a:p>
          <a:p>
            <a:endParaRPr lang="en-US" sz="1000" dirty="0"/>
          </a:p>
          <a:p>
            <a:r>
              <a:rPr lang="en-US" sz="1000" dirty="0"/>
              <a:t>Koren, Y., Bell, R. and Volinsky, C. (2009) ‘Matrix factorization techniques for recommender systems’, </a:t>
            </a:r>
            <a:r>
              <a:rPr lang="en-US" sz="1000" i="1" dirty="0"/>
              <a:t>Computer</a:t>
            </a:r>
            <a:r>
              <a:rPr lang="en-US" sz="1000" dirty="0"/>
              <a:t>, 42(8), pp. 30–37. doi:</a:t>
            </a:r>
            <a:r>
              <a:rPr lang="en-US" sz="1000" u="sng" dirty="0">
                <a:hlinkClick r:id="rId11"/>
              </a:rPr>
              <a:t>10.1109/MC.2009.263</a:t>
            </a:r>
            <a:r>
              <a:rPr lang="en-US" sz="1000" dirty="0"/>
              <a:t> (Accessed: 1 October 2026).</a:t>
            </a:r>
          </a:p>
          <a:p>
            <a:endParaRPr lang="en-US" sz="1000" dirty="0"/>
          </a:p>
          <a:p>
            <a:r>
              <a:rPr lang="en-US" sz="1000" dirty="0"/>
              <a:t>Lundberg, S.M. and Lee, S.-I. (2017) ‘A unified approach to interpreting model predictions’, in </a:t>
            </a:r>
            <a:r>
              <a:rPr lang="en-US" sz="1000" i="1" dirty="0"/>
              <a:t>Advances in Neural Information Processing Systems 30 (NIPS 2017)</a:t>
            </a:r>
            <a:r>
              <a:rPr lang="en-US" sz="1000" dirty="0"/>
              <a:t>. Long Beach, CA, 4–9 December. Red Hook, NY: Curran Associates, pp. 4765–4774. Available at: </a:t>
            </a:r>
            <a:r>
              <a:rPr lang="en-US" sz="1000" u="sng" dirty="0">
                <a:hlinkClick r:id="rId12"/>
              </a:rPr>
              <a:t>https://arxiv.org/abs/1705.07874</a:t>
            </a:r>
            <a:r>
              <a:rPr lang="en-US" sz="1000" dirty="0"/>
              <a:t> (Accessed: 1 October 2026).</a:t>
            </a:r>
          </a:p>
          <a:p>
            <a:endParaRPr lang="en-US" sz="1000" dirty="0"/>
          </a:p>
          <a:p>
            <a:r>
              <a:rPr lang="en-US" sz="1000" dirty="0"/>
              <a:t>Narayanan, A. and Shmatikov, V. (2008) ‘Robust de-anonymization of large sparse datasets’, in </a:t>
            </a:r>
            <a:r>
              <a:rPr lang="en-US" sz="1000" i="1" dirty="0"/>
              <a:t>Proceedings of the 2008 IEEE Symposium on Security and Privacy</a:t>
            </a:r>
            <a:r>
              <a:rPr lang="en-US" sz="1000" dirty="0"/>
              <a:t>. Oakland, CA, 18–21 May. Washington, DC: IEEE Computer Society, pp. 111–125. doi:</a:t>
            </a:r>
            <a:r>
              <a:rPr lang="en-US" sz="1000" u="sng" dirty="0">
                <a:hlinkClick r:id="rId13"/>
              </a:rPr>
              <a:t>10.1109/SP.2008.33</a:t>
            </a:r>
            <a:r>
              <a:rPr lang="en-US" sz="1000" dirty="0"/>
              <a:t> (Accessed: 3 October 2026).</a:t>
            </a:r>
          </a:p>
          <a:p>
            <a:endParaRPr lang="en-US" sz="1000" dirty="0"/>
          </a:p>
          <a:p>
            <a:r>
              <a:rPr lang="en-US" sz="1000" dirty="0"/>
              <a:t>Zhang, J., et al. (2020) ‘Personalized real-time movie recommendation system: practical prototype and evaluation’, </a:t>
            </a:r>
            <a:r>
              <a:rPr lang="en-US" sz="1000" i="1" dirty="0"/>
              <a:t>Tsinghua Science and Technology</a:t>
            </a:r>
            <a:r>
              <a:rPr lang="en-US" sz="1000" dirty="0"/>
              <a:t>, 25(2), pp. 180–191. doi:</a:t>
            </a:r>
            <a:r>
              <a:rPr lang="en-US" sz="1000" u="sng" dirty="0">
                <a:hlinkClick r:id="rId14"/>
              </a:rPr>
              <a:t>10.26599/TST.2018.9010118</a:t>
            </a:r>
            <a:r>
              <a:rPr lang="en-US" sz="1000" dirty="0"/>
              <a:t> (Accessed: 1 October 2026).</a:t>
            </a:r>
          </a:p>
          <a:p>
            <a:endParaRPr lang="en-US" sz="1000" dirty="0"/>
          </a:p>
          <a:p>
            <a:r>
              <a:rPr lang="en-US" sz="1000" dirty="0"/>
              <a:t>Zhang, S., et al. (2019) ‘Deep learning based recommender system: a survey and new perspectives’, </a:t>
            </a:r>
            <a:r>
              <a:rPr lang="en-US" sz="1000" i="1" dirty="0"/>
              <a:t>ACM Computing Surveys</a:t>
            </a:r>
            <a:r>
              <a:rPr lang="en-US" sz="1000" dirty="0"/>
              <a:t>, 52(1), article 5, pp. 1–38. doi:</a:t>
            </a:r>
            <a:r>
              <a:rPr lang="en-US" sz="1000" u="sng" dirty="0">
                <a:hlinkClick r:id="rId15"/>
              </a:rPr>
              <a:t>10.1145/3285029</a:t>
            </a:r>
            <a:r>
              <a:rPr lang="en-US" sz="1000" dirty="0"/>
              <a:t> (Accessed: 1 October 2026).</a:t>
            </a:r>
          </a:p>
        </p:txBody>
      </p:sp>
      <p:sp>
        <p:nvSpPr>
          <p:cNvPr id="25" name="Slide Number Placeholder 0"/>
          <p:cNvSpPr>
            <a:spLocks noGrp="1"/>
          </p:cNvSpPr>
          <p:nvPr>
            <p:ph type="sldNum" sz="quarter" idx="4294967295"/>
          </p:nvPr>
        </p:nvSpPr>
        <p:spPr>
          <a:xfrm>
            <a:off x="1095725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29C"/>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Hypoloans DS">
  <a:themeElements>
    <a:clrScheme name="Hypoloans DS">
      <a:dk1>
        <a:srgbClr val="141920"/>
      </a:dk1>
      <a:lt1>
        <a:srgbClr val="FFFFFF"/>
      </a:lt1>
      <a:dk2>
        <a:srgbClr val="5C6672"/>
      </a:dk2>
      <a:lt2>
        <a:srgbClr val="F4F5F7"/>
      </a:lt2>
      <a:accent1>
        <a:srgbClr val="1F4E79"/>
      </a:accent1>
      <a:accent2>
        <a:srgbClr val="8FB3D6"/>
      </a:accent2>
      <a:accent3>
        <a:srgbClr val="9AA6B2"/>
      </a:accent3>
      <a:accent4>
        <a:srgbClr val="33404E"/>
      </a:accent4>
      <a:accent5>
        <a:srgbClr val="EEF3F8"/>
      </a:accent5>
      <a:accent6>
        <a:srgbClr val="E4E7EC"/>
      </a:accent6>
      <a:hlink>
        <a:srgbClr val="1F4E79"/>
      </a:hlink>
      <a:folHlink>
        <a:srgbClr val="5C6672"/>
      </a:folHlink>
    </a:clrScheme>
    <a:fontScheme name="Hypoloans D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4157</Words>
  <Application>Microsoft Office PowerPoint</Application>
  <PresentationFormat>Widescreen</PresentationFormat>
  <Paragraphs>277</Paragraphs>
  <Slides>16</Slides>
  <Notes>16</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Courier New</vt:lpstr>
      <vt:lpstr>Hypoloans DS</vt:lpstr>
      <vt:lpstr>A movie recommender: classical machine learning versus deep learning</vt:lpstr>
      <vt:lpstr>Dataset: MovieLens 100K</vt:lpstr>
      <vt:lpstr>EDA</vt:lpstr>
      <vt:lpstr>Preprocessing</vt:lpstr>
      <vt:lpstr>Model selection (I): filtering strategies</vt:lpstr>
      <vt:lpstr>Model selection (II): why a deep model, and which one</vt:lpstr>
      <vt:lpstr>Model design</vt:lpstr>
      <vt:lpstr>Results</vt:lpstr>
      <vt:lpstr>Evaluation metrics and overfitting</vt:lpstr>
      <vt:lpstr>Hyperparameters and grid search</vt:lpstr>
      <vt:lpstr>Explainability: SHAP</vt:lpstr>
      <vt:lpstr>Bias and ethics</vt:lpstr>
      <vt:lpstr>Deployment</vt:lpstr>
      <vt:lpstr>Conclusion</vt:lpstr>
      <vt:lpstr>Demonstration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movie recommender</dc:title>
  <dc:subject>PptxGenJS Presentation</dc:subject>
  <dc:creator>Jeroen Schoemaker</dc:creator>
  <cp:lastModifiedBy>Jeroen Schoemaker</cp:lastModifiedBy>
  <cp:revision>10</cp:revision>
  <dcterms:created xsi:type="dcterms:W3CDTF">2026-10-12T12:36:58Z</dcterms:created>
  <dcterms:modified xsi:type="dcterms:W3CDTF">2026-10-19T16:22:09Z</dcterms:modified>
</cp:coreProperties>
</file>